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type="screen16x9" cy="6858000" cx="12192000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Plus Jakarta Sans" panose="020B0604020202020204" charset="0"/>
      <p:regular r:id="rId25"/>
      <p:bold r:id="rId26"/>
      <p:italic r:id="rId27"/>
      <p:boldItalic r:id="rId28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8BE0271C-FED0-43BA-A56D-67A6A46E78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tableStyles" Target="tableStyles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97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Google Shape;3;n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950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91425" lIns="91425" rIns="91425" spcFirstLastPara="1" tIns="91425" wrap="square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pc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7" name="Google Shape;82;p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8" name="Google Shape;100;p2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36" name="Google Shape;129;p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4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Google Shape;15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62" name="Google Shape;154;p4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Google Shape;1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82" name="Google Shape;182;p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Google Shape;2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01" name="Google Shape;212;p6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3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Google Shape;2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24" name="Google Shape;244;p7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Google Shape;27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47" name="Google Shape;274;p8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9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Google Shape;2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64" name="Google Shape;299;p9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Google Shape;3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78" name="Google Shape;321;p10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Google Shape;3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796" name="Google Shape;337;p11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8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Google Shape;36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10" name="Google Shape;361;p12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Google Shape;3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24" name="Google Shape;377;p13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Google Shape;3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42" name="Google Shape;395;p14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5" name="Google Shape;41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56" name="Google Shape;419;p15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Google Shape;43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68" name="Google Shape;435;p16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3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1" name="Google Shape;4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82" name="Google Shape;451;p17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Google Shape;46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91425" lIns="91425" rIns="91425" spcFirstLastPara="1" tIns="91425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893" name="Google Shape;467;p18:notes"/>
          <p:cNvSpPr>
            <a:spLocks noChangeAspect="1" noRot="1" noGrp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24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3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89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7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8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ctr" lv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 lvl="1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 lvl="2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 lvl="3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 lvl="4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 lvl="5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 lvl="6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 lvl="7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 lvl="8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909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0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1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92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3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24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925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26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27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93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cap="none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algn="l" indent="-228600" lvl="1" marL="91440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algn="l" indent="-228600" lvl="2" marL="137160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algn="l" indent="-228600" lvl="3" marL="1828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algn="l" indent="-228600" lvl="4" marL="22860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algn="l" indent="-228600" lvl="5" marL="27432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algn="l" indent="-228600" lvl="6" marL="32004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algn="l" indent="-228600" lvl="7" marL="36576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algn="l" indent="-228600" lvl="8" marL="411480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89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94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3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34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935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06400" lvl="0" marL="4572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algn="l" indent="-381000" lvl="1" marL="9144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algn="l" indent="-355600" lvl="2" marL="1371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8936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37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38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87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4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895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896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897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algn="l" indent="-228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algn="l" indent="-2286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algn="l" indent="-2286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algn="l" indent="-2286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algn="l" indent="-2286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algn="l" indent="-2286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algn="l" indent="-2286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algn="l" indent="-2286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048898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81000" lvl="0" marL="4572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algn="l" indent="-355600" lvl="1" marL="914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algn="l" indent="-330200" lvl="3" marL="1828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algn="l" indent="-330200" lvl="4" marL="22860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algn="l" indent="-330200" lvl="5" marL="27432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algn="l" indent="-330200" lvl="6" marL="32004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algn="l" indent="-330200" lvl="7" marL="36576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algn="l" indent="-330200" lvl="8" marL="411480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048899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0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1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95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9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40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41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42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96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44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algn="l" indent="-406400" lvl="1" marL="9144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algn="l" indent="-381000" lvl="2" marL="1371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algn="l" indent="-355600" lvl="3" marL="1828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algn="l" indent="-355600" lvl="4" marL="22860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algn="l" indent="-355600" lvl="5" marL="27432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algn="l" indent="-355600" lvl="6" marL="32004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algn="l" indent="-355600" lvl="7" marL="3657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algn="l" indent="-355600" lvl="8" marL="41148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48945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946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47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48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90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rm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/>
          <a:noFill/>
          <a:ln>
            <a:noFill/>
          </a:ln>
        </p:spPr>
      </p:sp>
      <p:sp>
        <p:nvSpPr>
          <p:cNvPr id="104891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228600" lvl="0" marL="45720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algn="l" indent="-228600" lvl="1" marL="91440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algn="l" indent="-228600" lvl="2" marL="137160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algn="l" indent="-228600" lvl="3" marL="1828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algn="l" indent="-228600" lvl="4" marL="22860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algn="l" indent="-228600" lvl="5" marL="27432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algn="l" indent="-228600" lvl="6" marL="32004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algn="l" indent="-228600" lvl="7" marL="36576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algn="l" indent="-228600" lvl="8" marL="411480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4891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9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19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920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21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22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88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2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3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algn="l" indent="-342900" lvl="1" marL="914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2pPr>
            <a:lvl3pPr algn="l" indent="-342900" lvl="2" marL="1371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algn="l" indent="-342900" lvl="3" marL="1828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lvl4pPr>
            <a:lvl5pPr algn="l" indent="-342900" lvl="4" marL="22860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</a:lvl5pPr>
            <a:lvl6pPr algn="l" indent="-342900" lvl="5" marL="27432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904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5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906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>
              <a:spcBef>
                <a:spcPts val="0"/>
              </a:spcBef>
              <a:buNone/>
            </a:lvl1pPr>
            <a:lvl2pPr algn="r" indent="0" lvl="1" marL="0">
              <a:spcBef>
                <a:spcPts val="0"/>
              </a:spcBef>
              <a:buNone/>
            </a:lvl2pPr>
            <a:lvl3pPr algn="r" indent="0" lvl="2" marL="0">
              <a:spcBef>
                <a:spcPts val="0"/>
              </a:spcBef>
              <a:buNone/>
            </a:lvl3pPr>
            <a:lvl4pPr algn="r" indent="0" lvl="3" marL="0">
              <a:spcBef>
                <a:spcPts val="0"/>
              </a:spcBef>
              <a:buNone/>
            </a:lvl4pPr>
            <a:lvl5pPr algn="r" indent="0" lvl="4" marL="0">
              <a:spcBef>
                <a:spcPts val="0"/>
              </a:spcBef>
              <a:buNone/>
            </a:lvl5pPr>
            <a:lvl6pPr algn="r" indent="0" lvl="5" marL="0">
              <a:spcBef>
                <a:spcPts val="0"/>
              </a:spcBef>
              <a:buNone/>
            </a:lvl6pPr>
            <a:lvl7pPr algn="r" indent="0" lvl="6" marL="0">
              <a:spcBef>
                <a:spcPts val="0"/>
              </a:spcBef>
              <a:buNone/>
            </a:lvl7pPr>
            <a:lvl8pPr algn="r" indent="0" lvl="7" marL="0">
              <a:spcBef>
                <a:spcPts val="0"/>
              </a:spcBef>
              <a:buNone/>
            </a:lvl8pPr>
            <a:lvl9pPr algn="r" indent="0" lvl="8" marL="0">
              <a:spcBef>
                <a:spcPts val="0"/>
              </a:spcBef>
              <a:buNone/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2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cap="none" sz="4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431800" lvl="0" marL="457200" marR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cap="none" sz="3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406400" lvl="1" marL="914400" marR="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cap="none" sz="2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81000" lvl="2" marL="1371600" marR="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cap="none" sz="24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55600" lvl="3" marL="1828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55600" lvl="4" marL="22860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55600" lvl="5" marL="27432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55600" lvl="6" marL="32004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55600" lvl="7" marL="36576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55600" lvl="8" marL="4114800" marR="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cap="none" sz="20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sz="18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sz="1200" i="0" strike="noStrike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pc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25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84;p13"/>
          <p:cNvSpPr/>
          <p:nvPr/>
        </p:nvSpPr>
        <p:spPr>
          <a:xfrm>
            <a:off x="762000" y="4526614"/>
            <a:ext cx="10668000" cy="6669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5" name="Google Shape;85;p13"/>
          <p:cNvSpPr/>
          <p:nvPr/>
        </p:nvSpPr>
        <p:spPr>
          <a:xfrm>
            <a:off x="762000" y="3939176"/>
            <a:ext cx="6096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86" name="Google Shape;86;p13"/>
          <p:cNvSpPr/>
          <p:nvPr/>
        </p:nvSpPr>
        <p:spPr>
          <a:xfrm>
            <a:off x="593825" y="4302839"/>
            <a:ext cx="10668000" cy="9600"/>
          </a:xfrm>
          <a:prstGeom prst="rect"/>
          <a:solidFill>
            <a:srgbClr val="1E293B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2" name="Google Shape;87;p13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762000" y="609600"/>
            <a:ext cx="381000" cy="381000"/>
          </a:xfrm>
          <a:prstGeom prst="rect"/>
          <a:noFill/>
          <a:ln>
            <a:noFill/>
          </a:ln>
        </p:spPr>
      </p:pic>
      <p:pic>
        <p:nvPicPr>
          <p:cNvPr id="2097153" name="Google Shape;88;p13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833437" y="704850"/>
            <a:ext cx="238125" cy="190500"/>
          </a:xfrm>
          <a:prstGeom prst="rect"/>
          <a:noFill/>
          <a:ln>
            <a:noFill/>
          </a:ln>
        </p:spPr>
      </p:pic>
      <p:sp>
        <p:nvSpPr>
          <p:cNvPr id="1048587" name="Google Shape;89;p13"/>
          <p:cNvSpPr txBox="1"/>
          <p:nvPr/>
        </p:nvSpPr>
        <p:spPr>
          <a:xfrm>
            <a:off x="9277350" y="719137"/>
            <a:ext cx="2690812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AI | GENERATIVE AI | EDTECH</a:t>
            </a:r>
          </a:p>
        </p:txBody>
      </p:sp>
      <p:sp>
        <p:nvSpPr>
          <p:cNvPr id="1048588" name="Google Shape;90;p13"/>
          <p:cNvSpPr txBox="1"/>
          <p:nvPr/>
        </p:nvSpPr>
        <p:spPr>
          <a:xfrm>
            <a:off x="762000" y="2366962"/>
            <a:ext cx="11430000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INTELLIGENT LEARNING PLATFORM</a:t>
            </a:r>
          </a:p>
        </p:txBody>
      </p:sp>
      <p:sp>
        <p:nvSpPr>
          <p:cNvPr id="1048589" name="Google Shape;91;p13"/>
          <p:cNvSpPr txBox="1"/>
          <p:nvPr/>
        </p:nvSpPr>
        <p:spPr>
          <a:xfrm>
            <a:off x="762000" y="2719387"/>
            <a:ext cx="11430000" cy="796289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4800" i="0" lang="en-US" strike="noStrike" u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EDUGENIE</a:t>
            </a:r>
          </a:p>
        </p:txBody>
      </p:sp>
      <p:sp>
        <p:nvSpPr>
          <p:cNvPr id="1048590" name="Google Shape;92;p13"/>
          <p:cNvSpPr txBox="1"/>
          <p:nvPr/>
        </p:nvSpPr>
        <p:spPr>
          <a:xfrm>
            <a:off x="762000" y="3580358"/>
            <a:ext cx="9048750" cy="373379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800" i="0" lang="en-US" strike="noStrike" u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AI-Powered Educational Assistant</a:t>
            </a:r>
          </a:p>
        </p:txBody>
      </p:sp>
      <p:sp>
        <p:nvSpPr>
          <p:cNvPr id="1048591" name="Google Shape;93;p13"/>
          <p:cNvSpPr txBox="1"/>
          <p:nvPr/>
        </p:nvSpPr>
        <p:spPr>
          <a:xfrm>
            <a:off x="1257300" y="704850"/>
            <a:ext cx="2357437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ACADEMIC PROJECT</a:t>
            </a:r>
          </a:p>
        </p:txBody>
      </p:sp>
      <p:sp>
        <p:nvSpPr>
          <p:cNvPr id="1048592" name="Google Shape;94;p13"/>
          <p:cNvSpPr txBox="1"/>
          <p:nvPr/>
        </p:nvSpPr>
        <p:spPr>
          <a:xfrm>
            <a:off x="762000" y="4059214"/>
            <a:ext cx="1390800" cy="1617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</a:p>
        </p:txBody>
      </p:sp>
      <p:sp>
        <p:nvSpPr>
          <p:cNvPr id="1048593" name="Google Shape;95;p13"/>
          <p:cNvSpPr txBox="1"/>
          <p:nvPr/>
        </p:nvSpPr>
        <p:spPr>
          <a:xfrm>
            <a:off x="762000" y="4394375"/>
            <a:ext cx="2040900" cy="11430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shwari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endParaRPr b="1" cap="none" sz="1500" i="0" strike="noStrike" u="non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endParaRPr b="1" cap="none" sz="1500" i="0" strike="noStrike" u="non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</a:t>
            </a:r>
            <a:endParaRPr b="1" cap="none" sz="1500" i="0" strike="noStrike" u="non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esh 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endParaRPr b="1" cap="none" sz="1500" i="0" strike="noStrike" u="non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cap="none" sz="1500" i="0" lang="en-US" strike="noStrike" u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endParaRPr b="1" cap="none" sz="1500" i="0" strike="noStrike" u="none">
              <a:solidFill>
                <a:srgbClr val="F1F5F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48594" name="Google Shape;96;p13"/>
          <p:cNvSpPr txBox="1"/>
          <p:nvPr/>
        </p:nvSpPr>
        <p:spPr>
          <a:xfrm>
            <a:off x="6846093" y="5848201"/>
            <a:ext cx="458390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DEPARTMENT</a:t>
            </a:r>
          </a:p>
        </p:txBody>
      </p:sp>
      <p:sp>
        <p:nvSpPr>
          <p:cNvPr id="1048595" name="Google Shape;97;p13"/>
          <p:cNvSpPr txBox="1"/>
          <p:nvPr/>
        </p:nvSpPr>
        <p:spPr>
          <a:xfrm>
            <a:off x="6846093" y="6048226"/>
            <a:ext cx="4583906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 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 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puter </a:t>
            </a:r>
            <a:r>
              <a:rPr b="1" cap="none" sz="1350" i="0" lang="en-US" strike="noStrike" u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Application 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36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102;p14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9" name="Google Shape;103;p14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0" name="Google Shape;104;p14"/>
          <p:cNvSpPr/>
          <p:nvPr/>
        </p:nvSpPr>
        <p:spPr>
          <a:xfrm>
            <a:off x="685800" y="3808809"/>
            <a:ext cx="5238750" cy="8001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1" name="Google Shape;105;p14"/>
          <p:cNvSpPr/>
          <p:nvPr/>
        </p:nvSpPr>
        <p:spPr>
          <a:xfrm>
            <a:off x="6267450" y="2053530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2" name="Google Shape;106;p14"/>
          <p:cNvSpPr/>
          <p:nvPr/>
        </p:nvSpPr>
        <p:spPr>
          <a:xfrm>
            <a:off x="6267450" y="2691705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3" name="Google Shape;107;p14"/>
          <p:cNvSpPr/>
          <p:nvPr/>
        </p:nvSpPr>
        <p:spPr>
          <a:xfrm>
            <a:off x="6267450" y="3329880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4" name="Google Shape;108;p14"/>
          <p:cNvSpPr/>
          <p:nvPr/>
        </p:nvSpPr>
        <p:spPr>
          <a:xfrm>
            <a:off x="6267450" y="3968055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05" name="Google Shape;109;p14"/>
          <p:cNvSpPr/>
          <p:nvPr/>
        </p:nvSpPr>
        <p:spPr>
          <a:xfrm>
            <a:off x="6267450" y="4606230"/>
            <a:ext cx="5238750" cy="523875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54" name="Google Shape;110;p14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23925" y="4094559"/>
            <a:ext cx="200025" cy="228600"/>
          </a:xfrm>
          <a:prstGeom prst="rect"/>
          <a:noFill/>
          <a:ln>
            <a:noFill/>
          </a:ln>
        </p:spPr>
      </p:pic>
      <p:pic>
        <p:nvPicPr>
          <p:cNvPr id="2097155" name="Google Shape;111;p14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6467475" y="2220217"/>
            <a:ext cx="190500" cy="190500"/>
          </a:xfrm>
          <a:prstGeom prst="rect"/>
          <a:noFill/>
          <a:ln>
            <a:noFill/>
          </a:ln>
        </p:spPr>
      </p:pic>
      <p:pic>
        <p:nvPicPr>
          <p:cNvPr id="2097156" name="Google Shape;112;p14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6467475" y="2858392"/>
            <a:ext cx="142875" cy="190500"/>
          </a:xfrm>
          <a:prstGeom prst="rect"/>
          <a:noFill/>
          <a:ln>
            <a:noFill/>
          </a:ln>
        </p:spPr>
      </p:pic>
      <p:pic>
        <p:nvPicPr>
          <p:cNvPr id="2097157" name="Google Shape;113;p14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6467475" y="3496567"/>
            <a:ext cx="190500" cy="190500"/>
          </a:xfrm>
          <a:prstGeom prst="rect"/>
          <a:noFill/>
          <a:ln>
            <a:noFill/>
          </a:ln>
        </p:spPr>
      </p:pic>
      <p:pic>
        <p:nvPicPr>
          <p:cNvPr id="2097158" name="Google Shape;114;p14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6467475" y="4134742"/>
            <a:ext cx="142875" cy="190500"/>
          </a:xfrm>
          <a:prstGeom prst="rect"/>
          <a:noFill/>
          <a:ln>
            <a:noFill/>
          </a:ln>
        </p:spPr>
      </p:pic>
      <p:pic>
        <p:nvPicPr>
          <p:cNvPr id="2097159" name="Google Shape;115;p14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6">
            <a:alphaModFix/>
          </a:blip>
          <a:srcRect/>
          <a:stretch>
            <a:fillRect/>
          </a:stretch>
        </p:blipFill>
        <p:spPr>
          <a:xfrm>
            <a:off x="6467475" y="4772917"/>
            <a:ext cx="190500" cy="190500"/>
          </a:xfrm>
          <a:prstGeom prst="rect"/>
          <a:noFill/>
          <a:ln>
            <a:noFill/>
          </a:ln>
        </p:spPr>
      </p:pic>
      <p:sp>
        <p:nvSpPr>
          <p:cNvPr id="1048606" name="Google Shape;116;p14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</a:p>
        </p:txBody>
      </p:sp>
      <p:sp>
        <p:nvSpPr>
          <p:cNvPr id="1048607" name="Google Shape;117;p14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</a:t>
            </a:r>
          </a:p>
        </p:txBody>
      </p:sp>
      <p:sp>
        <p:nvSpPr>
          <p:cNvPr id="1048608" name="Google Shape;118;p14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609" name="Google Shape;119;p14"/>
          <p:cNvSpPr txBox="1"/>
          <p:nvPr/>
        </p:nvSpPr>
        <p:spPr>
          <a:xfrm>
            <a:off x="10991850" y="6162675"/>
            <a:ext cx="8001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02</a:t>
            </a:r>
          </a:p>
        </p:txBody>
      </p:sp>
      <p:sp>
        <p:nvSpPr>
          <p:cNvPr id="1048610" name="Google Shape;120;p14"/>
          <p:cNvSpPr txBox="1"/>
          <p:nvPr/>
        </p:nvSpPr>
        <p:spPr>
          <a:xfrm>
            <a:off x="685800" y="2574726"/>
            <a:ext cx="5334000" cy="772161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65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EduGenie combines Generative AI with a student-friendly web interface to deliver on-demand educational support.</a:t>
            </a:r>
          </a:p>
        </p:txBody>
      </p:sp>
      <p:sp>
        <p:nvSpPr>
          <p:cNvPr id="1048611" name="Google Shape;121;p14"/>
          <p:cNvSpPr txBox="1"/>
          <p:nvPr/>
        </p:nvSpPr>
        <p:spPr>
          <a:xfrm>
            <a:off x="1238250" y="4008834"/>
            <a:ext cx="454342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Unified cognitive study assistant powered by Google Gemini</a:t>
            </a:r>
          </a:p>
        </p:txBody>
      </p:sp>
      <p:sp>
        <p:nvSpPr>
          <p:cNvPr id="1048612" name="Google Shape;122;p14"/>
          <p:cNvSpPr txBox="1"/>
          <p:nvPr/>
        </p:nvSpPr>
        <p:spPr>
          <a:xfrm>
            <a:off x="6810375" y="2215455"/>
            <a:ext cx="2274093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AI Question &amp; Answer</a:t>
            </a:r>
          </a:p>
        </p:txBody>
      </p:sp>
      <p:sp>
        <p:nvSpPr>
          <p:cNvPr id="1048613" name="Google Shape;123;p14"/>
          <p:cNvSpPr txBox="1"/>
          <p:nvPr/>
        </p:nvSpPr>
        <p:spPr>
          <a:xfrm>
            <a:off x="6762750" y="2853630"/>
            <a:ext cx="2131218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Concept Explanation</a:t>
            </a:r>
          </a:p>
        </p:txBody>
      </p:sp>
      <p:sp>
        <p:nvSpPr>
          <p:cNvPr id="1048614" name="Google Shape;124;p14"/>
          <p:cNvSpPr txBox="1"/>
          <p:nvPr/>
        </p:nvSpPr>
        <p:spPr>
          <a:xfrm>
            <a:off x="6810375" y="3491805"/>
            <a:ext cx="2845593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Interactive Quiz Generation</a:t>
            </a:r>
          </a:p>
        </p:txBody>
      </p:sp>
      <p:sp>
        <p:nvSpPr>
          <p:cNvPr id="1048615" name="Google Shape;125;p14"/>
          <p:cNvSpPr txBox="1"/>
          <p:nvPr/>
        </p:nvSpPr>
        <p:spPr>
          <a:xfrm>
            <a:off x="6762750" y="4129980"/>
            <a:ext cx="311943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Study Material Summarization</a:t>
            </a:r>
          </a:p>
        </p:txBody>
      </p:sp>
      <p:sp>
        <p:nvSpPr>
          <p:cNvPr id="1048616" name="Google Shape;126;p14"/>
          <p:cNvSpPr txBox="1"/>
          <p:nvPr/>
        </p:nvSpPr>
        <p:spPr>
          <a:xfrm>
            <a:off x="6810375" y="4768155"/>
            <a:ext cx="4310062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Personalized Learning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9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131;p15"/>
          <p:cNvSpPr/>
          <p:nvPr/>
        </p:nvSpPr>
        <p:spPr>
          <a:xfrm>
            <a:off x="685800" y="5829300"/>
            <a:ext cx="108204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0" name="Google Shape;132;p15"/>
          <p:cNvSpPr/>
          <p:nvPr/>
        </p:nvSpPr>
        <p:spPr>
          <a:xfrm>
            <a:off x="685800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EF2F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1" name="Google Shape;133;p15"/>
          <p:cNvSpPr/>
          <p:nvPr/>
        </p:nvSpPr>
        <p:spPr>
          <a:xfrm>
            <a:off x="3438525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FF7ED"/>
          </a:solidFill>
          <a:ln w="9525" cap="flat" cmpd="sng">
            <a:solidFill>
              <a:srgbClr val="FFEDD5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2" name="Google Shape;134;p15"/>
          <p:cNvSpPr/>
          <p:nvPr/>
        </p:nvSpPr>
        <p:spPr>
          <a:xfrm>
            <a:off x="6191250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EFCE8"/>
          </a:solidFill>
          <a:ln w="9525" cap="flat" cmpd="sng">
            <a:solidFill>
              <a:srgbClr val="FEF9C3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23" name="Google Shape;135;p15"/>
          <p:cNvSpPr/>
          <p:nvPr/>
        </p:nvSpPr>
        <p:spPr>
          <a:xfrm>
            <a:off x="8943975" y="2634555"/>
            <a:ext cx="2562225" cy="1743075"/>
          </a:xfrm>
          <a:prstGeom prst="roundRect">
            <a:avLst>
              <a:gd name="adj" fmla="val 655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60" name="Google Shape;136;p15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14400" y="5981700"/>
            <a:ext cx="190500" cy="190500"/>
          </a:xfrm>
          <a:prstGeom prst="rect"/>
          <a:noFill/>
          <a:ln>
            <a:noFill/>
          </a:ln>
        </p:spPr>
      </p:pic>
      <p:pic>
        <p:nvPicPr>
          <p:cNvPr id="2097161" name="Google Shape;137;p15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923925" y="2910780"/>
            <a:ext cx="266700" cy="266700"/>
          </a:xfrm>
          <a:prstGeom prst="rect"/>
          <a:noFill/>
          <a:ln>
            <a:noFill/>
          </a:ln>
        </p:spPr>
      </p:pic>
      <p:pic>
        <p:nvPicPr>
          <p:cNvPr id="2097162" name="Google Shape;138;p15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3676650" y="2910780"/>
            <a:ext cx="200025" cy="266700"/>
          </a:xfrm>
          <a:prstGeom prst="rect"/>
          <a:noFill/>
          <a:ln>
            <a:noFill/>
          </a:ln>
        </p:spPr>
      </p:pic>
      <p:pic>
        <p:nvPicPr>
          <p:cNvPr id="2097163" name="Google Shape;139;p15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6429375" y="2910780"/>
            <a:ext cx="200025" cy="266700"/>
          </a:xfrm>
          <a:prstGeom prst="rect"/>
          <a:noFill/>
          <a:ln>
            <a:noFill/>
          </a:ln>
        </p:spPr>
      </p:pic>
      <p:pic>
        <p:nvPicPr>
          <p:cNvPr id="2097164" name="Google Shape;140;p15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9182100" y="2910780"/>
            <a:ext cx="266700" cy="266700"/>
          </a:xfrm>
          <a:prstGeom prst="rect"/>
          <a:noFill/>
          <a:ln>
            <a:noFill/>
          </a:ln>
        </p:spPr>
      </p:pic>
      <p:sp>
        <p:nvSpPr>
          <p:cNvPr id="1048624" name="Google Shape;141;p15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CHALLENGES IN SELF-STUDY</a:t>
            </a:r>
          </a:p>
        </p:txBody>
      </p:sp>
      <p:sp>
        <p:nvSpPr>
          <p:cNvPr id="1048625" name="Google Shape;142;p15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</a:p>
        </p:txBody>
      </p:sp>
      <p:sp>
        <p:nvSpPr>
          <p:cNvPr id="1048626" name="Google Shape;143;p15"/>
          <p:cNvSpPr txBox="1"/>
          <p:nvPr/>
        </p:nvSpPr>
        <p:spPr>
          <a:xfrm>
            <a:off x="1257300" y="5981700"/>
            <a:ext cx="8382000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Traditional learning resources provide information but lack personalization and interactivity.</a:t>
            </a:r>
          </a:p>
        </p:txBody>
      </p:sp>
      <p:sp>
        <p:nvSpPr>
          <p:cNvPr id="1048627" name="Google Shape;144;p15"/>
          <p:cNvSpPr txBox="1"/>
          <p:nvPr/>
        </p:nvSpPr>
        <p:spPr>
          <a:xfrm>
            <a:off x="923925" y="3329880"/>
            <a:ext cx="2737842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Complex Concepts</a:t>
            </a:r>
          </a:p>
        </p:txBody>
      </p:sp>
      <p:sp>
        <p:nvSpPr>
          <p:cNvPr id="1048628" name="Google Shape;145;p15"/>
          <p:cNvSpPr txBox="1"/>
          <p:nvPr/>
        </p:nvSpPr>
        <p:spPr>
          <a:xfrm>
            <a:off x="923925" y="3644205"/>
            <a:ext cx="2181225" cy="5334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Understanding difficult academic ideas.</a:t>
            </a:r>
          </a:p>
        </p:txBody>
      </p:sp>
      <p:sp>
        <p:nvSpPr>
          <p:cNvPr id="1048629" name="Google Shape;146;p15"/>
          <p:cNvSpPr txBox="1"/>
          <p:nvPr/>
        </p:nvSpPr>
        <p:spPr>
          <a:xfrm>
            <a:off x="3676650" y="3329880"/>
            <a:ext cx="2737842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9A341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Explanations</a:t>
            </a:r>
          </a:p>
        </p:txBody>
      </p:sp>
      <p:sp>
        <p:nvSpPr>
          <p:cNvPr id="1048630" name="Google Shape;147;p15"/>
          <p:cNvSpPr txBox="1"/>
          <p:nvPr/>
        </p:nvSpPr>
        <p:spPr>
          <a:xfrm>
            <a:off x="3676650" y="3644205"/>
            <a:ext cx="2181225" cy="5334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7C2D12"/>
                </a:solidFill>
                <a:latin typeface="Inter"/>
                <a:ea typeface="Inter"/>
                <a:cs typeface="Inter"/>
                <a:sym typeface="Inter"/>
              </a:rPr>
              <a:t>Finding quick and clear explanations.</a:t>
            </a:r>
          </a:p>
        </p:txBody>
      </p:sp>
      <p:sp>
        <p:nvSpPr>
          <p:cNvPr id="1048631" name="Google Shape;148;p15"/>
          <p:cNvSpPr txBox="1"/>
          <p:nvPr/>
        </p:nvSpPr>
        <p:spPr>
          <a:xfrm>
            <a:off x="6429375" y="3329880"/>
            <a:ext cx="2737842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854D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Quizzing</a:t>
            </a:r>
          </a:p>
        </p:txBody>
      </p:sp>
      <p:sp>
        <p:nvSpPr>
          <p:cNvPr id="1048632" name="Google Shape;149;p15"/>
          <p:cNvSpPr txBox="1"/>
          <p:nvPr/>
        </p:nvSpPr>
        <p:spPr>
          <a:xfrm>
            <a:off x="6429375" y="3644205"/>
            <a:ext cx="2181225" cy="5334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713F12"/>
                </a:solidFill>
                <a:latin typeface="Inter"/>
                <a:ea typeface="Inter"/>
                <a:cs typeface="Inter"/>
                <a:sym typeface="Inter"/>
              </a:rPr>
              <a:t>Preparing reliable practice questions.</a:t>
            </a:r>
          </a:p>
        </p:txBody>
      </p:sp>
      <p:sp>
        <p:nvSpPr>
          <p:cNvPr id="1048633" name="Google Shape;150;p15"/>
          <p:cNvSpPr txBox="1"/>
          <p:nvPr/>
        </p:nvSpPr>
        <p:spPr>
          <a:xfrm>
            <a:off x="9182100" y="3329880"/>
            <a:ext cx="2737842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 Guidance</a:t>
            </a:r>
          </a:p>
        </p:txBody>
      </p:sp>
      <p:sp>
        <p:nvSpPr>
          <p:cNvPr id="1048634" name="Google Shape;151;p15"/>
          <p:cNvSpPr txBox="1"/>
          <p:nvPr/>
        </p:nvSpPr>
        <p:spPr>
          <a:xfrm>
            <a:off x="9182100" y="3644205"/>
            <a:ext cx="2181225" cy="2667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Identifying what to study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42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Google Shape;156;p16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8" name="Google Shape;157;p16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39" name="Google Shape;158;p16"/>
          <p:cNvSpPr/>
          <p:nvPr/>
        </p:nvSpPr>
        <p:spPr>
          <a:xfrm>
            <a:off x="685800" y="22106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0" name="Google Shape;159;p16"/>
          <p:cNvSpPr/>
          <p:nvPr/>
        </p:nvSpPr>
        <p:spPr>
          <a:xfrm>
            <a:off x="685800" y="318224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1" name="Google Shape;160;p16"/>
          <p:cNvSpPr/>
          <p:nvPr/>
        </p:nvSpPr>
        <p:spPr>
          <a:xfrm>
            <a:off x="685800" y="41537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2" name="Google Shape;161;p16"/>
          <p:cNvSpPr/>
          <p:nvPr/>
        </p:nvSpPr>
        <p:spPr>
          <a:xfrm>
            <a:off x="6248400" y="22106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3" name="Google Shape;162;p16"/>
          <p:cNvSpPr/>
          <p:nvPr/>
        </p:nvSpPr>
        <p:spPr>
          <a:xfrm>
            <a:off x="6248400" y="318224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4" name="Google Shape;163;p16"/>
          <p:cNvSpPr/>
          <p:nvPr/>
        </p:nvSpPr>
        <p:spPr>
          <a:xfrm>
            <a:off x="6248400" y="4153792"/>
            <a:ext cx="5257800" cy="81915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45" name="Google Shape;164;p16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GOALS &amp; VISION</a:t>
            </a:r>
          </a:p>
        </p:txBody>
      </p:sp>
      <p:sp>
        <p:nvSpPr>
          <p:cNvPr id="1048646" name="Google Shape;165;p16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Objectives</a:t>
            </a:r>
          </a:p>
        </p:txBody>
      </p:sp>
      <p:sp>
        <p:nvSpPr>
          <p:cNvPr id="1048647" name="Google Shape;166;p16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648" name="Google Shape;167;p16"/>
          <p:cNvSpPr txBox="1"/>
          <p:nvPr/>
        </p:nvSpPr>
        <p:spPr>
          <a:xfrm>
            <a:off x="10991850" y="6162675"/>
            <a:ext cx="8001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04</a:t>
            </a:r>
          </a:p>
        </p:txBody>
      </p:sp>
      <p:sp>
        <p:nvSpPr>
          <p:cNvPr id="1048649" name="Google Shape;168;p16"/>
          <p:cNvSpPr txBox="1"/>
          <p:nvPr/>
        </p:nvSpPr>
        <p:spPr>
          <a:xfrm>
            <a:off x="923925" y="2410717"/>
            <a:ext cx="597693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Provide AI-Powered Assistance</a:t>
            </a:r>
          </a:p>
        </p:txBody>
      </p:sp>
      <p:sp>
        <p:nvSpPr>
          <p:cNvPr id="1048650" name="Google Shape;169;p16"/>
          <p:cNvSpPr txBox="1"/>
          <p:nvPr/>
        </p:nvSpPr>
        <p:spPr>
          <a:xfrm>
            <a:off x="923925" y="2648842"/>
            <a:ext cx="5976937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Accessible guidance through modern web technology.</a:t>
            </a:r>
          </a:p>
        </p:txBody>
      </p:sp>
      <p:sp>
        <p:nvSpPr>
          <p:cNvPr id="1048651" name="Google Shape;170;p16"/>
          <p:cNvSpPr txBox="1"/>
          <p:nvPr/>
        </p:nvSpPr>
        <p:spPr>
          <a:xfrm>
            <a:off x="923925" y="3382267"/>
            <a:ext cx="597693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Simplify Difficult Concepts</a:t>
            </a:r>
          </a:p>
        </p:txBody>
      </p:sp>
      <p:sp>
        <p:nvSpPr>
          <p:cNvPr id="1048652" name="Google Shape;171;p16"/>
          <p:cNvSpPr txBox="1"/>
          <p:nvPr/>
        </p:nvSpPr>
        <p:spPr>
          <a:xfrm>
            <a:off x="923925" y="3620392"/>
            <a:ext cx="5976937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Transform dense theory into clear explanations.</a:t>
            </a:r>
          </a:p>
        </p:txBody>
      </p:sp>
      <p:sp>
        <p:nvSpPr>
          <p:cNvPr id="1048653" name="Google Shape;172;p16"/>
          <p:cNvSpPr txBox="1"/>
          <p:nvPr/>
        </p:nvSpPr>
        <p:spPr>
          <a:xfrm>
            <a:off x="923925" y="4353817"/>
            <a:ext cx="597693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Generate Practice Quizzes</a:t>
            </a:r>
          </a:p>
        </p:txBody>
      </p:sp>
      <p:sp>
        <p:nvSpPr>
          <p:cNvPr id="1048654" name="Google Shape;173;p16"/>
          <p:cNvSpPr txBox="1"/>
          <p:nvPr/>
        </p:nvSpPr>
        <p:spPr>
          <a:xfrm>
            <a:off x="923925" y="4591942"/>
            <a:ext cx="5976937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Automate self-assessment with instant scoring.</a:t>
            </a:r>
          </a:p>
        </p:txBody>
      </p:sp>
      <p:sp>
        <p:nvSpPr>
          <p:cNvPr id="1048655" name="Google Shape;174;p16"/>
          <p:cNvSpPr txBox="1"/>
          <p:nvPr/>
        </p:nvSpPr>
        <p:spPr>
          <a:xfrm>
            <a:off x="6486525" y="2410717"/>
            <a:ext cx="5705475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Summarize Study Materials</a:t>
            </a:r>
          </a:p>
        </p:txBody>
      </p:sp>
      <p:sp>
        <p:nvSpPr>
          <p:cNvPr id="1048656" name="Google Shape;175;p16"/>
          <p:cNvSpPr txBox="1"/>
          <p:nvPr/>
        </p:nvSpPr>
        <p:spPr>
          <a:xfrm>
            <a:off x="6486525" y="2648842"/>
            <a:ext cx="5705475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Synthesize lengthy readings into concise revision points.</a:t>
            </a:r>
          </a:p>
        </p:txBody>
      </p:sp>
      <p:sp>
        <p:nvSpPr>
          <p:cNvPr id="1048657" name="Google Shape;176;p16"/>
          <p:cNvSpPr txBox="1"/>
          <p:nvPr/>
        </p:nvSpPr>
        <p:spPr>
          <a:xfrm>
            <a:off x="6486525" y="3382267"/>
            <a:ext cx="5705475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Personalized Learning Paths</a:t>
            </a:r>
          </a:p>
        </p:txBody>
      </p:sp>
      <p:sp>
        <p:nvSpPr>
          <p:cNvPr id="1048658" name="Google Shape;177;p16"/>
          <p:cNvSpPr txBox="1"/>
          <p:nvPr/>
        </p:nvSpPr>
        <p:spPr>
          <a:xfrm>
            <a:off x="6486525" y="3620392"/>
            <a:ext cx="5705475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Deliver structured topic roadmaps and prerequisites.</a:t>
            </a:r>
          </a:p>
        </p:txBody>
      </p:sp>
      <p:sp>
        <p:nvSpPr>
          <p:cNvPr id="1048659" name="Google Shape;178;p16"/>
          <p:cNvSpPr txBox="1"/>
          <p:nvPr/>
        </p:nvSpPr>
        <p:spPr>
          <a:xfrm>
            <a:off x="6486525" y="4353817"/>
            <a:ext cx="5705475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Support Self-Paced Learning</a:t>
            </a:r>
          </a:p>
        </p:txBody>
      </p:sp>
      <p:sp>
        <p:nvSpPr>
          <p:cNvPr id="1048660" name="Google Shape;179;p16"/>
          <p:cNvSpPr txBox="1"/>
          <p:nvPr/>
        </p:nvSpPr>
        <p:spPr>
          <a:xfrm>
            <a:off x="6486525" y="4591942"/>
            <a:ext cx="5705475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Reduce manual note-making and study preparation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5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Google Shape;184;p17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4" name="Google Shape;185;p17"/>
          <p:cNvSpPr/>
          <p:nvPr/>
        </p:nvSpPr>
        <p:spPr>
          <a:xfrm>
            <a:off x="685800" y="2496442"/>
            <a:ext cx="5238750" cy="219075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5" name="Google Shape;186;p17"/>
          <p:cNvSpPr/>
          <p:nvPr/>
        </p:nvSpPr>
        <p:spPr>
          <a:xfrm>
            <a:off x="6267450" y="2496442"/>
            <a:ext cx="5238750" cy="2190750"/>
          </a:xfrm>
          <a:prstGeom prst="roundRect">
            <a:avLst>
              <a:gd name="adj" fmla="val 5217"/>
            </a:avLst>
          </a:prstGeom>
          <a:solidFill>
            <a:srgbClr val="FEF2F2"/>
          </a:solidFill>
          <a:ln w="9525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66" name="Google Shape;187;p17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65" name="Google Shape;188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1000125" y="3287017"/>
            <a:ext cx="133350" cy="152400"/>
          </a:xfrm>
          <a:prstGeom prst="rect"/>
          <a:noFill/>
          <a:ln>
            <a:noFill/>
          </a:ln>
        </p:spPr>
      </p:pic>
      <p:pic>
        <p:nvPicPr>
          <p:cNvPr id="2097166" name="Google Shape;189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1000125" y="3591817"/>
            <a:ext cx="152400" cy="152400"/>
          </a:xfrm>
          <a:prstGeom prst="rect"/>
          <a:noFill/>
          <a:ln>
            <a:noFill/>
          </a:ln>
        </p:spPr>
      </p:pic>
      <p:pic>
        <p:nvPicPr>
          <p:cNvPr id="2097167" name="Google Shape;190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1000125" y="3896617"/>
            <a:ext cx="152400" cy="152400"/>
          </a:xfrm>
          <a:prstGeom prst="rect"/>
          <a:noFill/>
          <a:ln>
            <a:noFill/>
          </a:ln>
        </p:spPr>
      </p:pic>
      <p:pic>
        <p:nvPicPr>
          <p:cNvPr id="2097168" name="Google Shape;191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1000125" y="4201417"/>
            <a:ext cx="152400" cy="152400"/>
          </a:xfrm>
          <a:prstGeom prst="rect"/>
          <a:noFill/>
          <a:ln>
            <a:noFill/>
          </a:ln>
        </p:spPr>
      </p:pic>
      <p:pic>
        <p:nvPicPr>
          <p:cNvPr id="2097169" name="Google Shape;192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6581775" y="3287017"/>
            <a:ext cx="152400" cy="152400"/>
          </a:xfrm>
          <a:prstGeom prst="rect"/>
          <a:noFill/>
          <a:ln>
            <a:noFill/>
          </a:ln>
        </p:spPr>
      </p:pic>
      <p:pic>
        <p:nvPicPr>
          <p:cNvPr id="2097170" name="Google Shape;193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6581775" y="3591817"/>
            <a:ext cx="152400" cy="152400"/>
          </a:xfrm>
          <a:prstGeom prst="rect"/>
          <a:noFill/>
          <a:ln>
            <a:noFill/>
          </a:ln>
        </p:spPr>
      </p:pic>
      <p:pic>
        <p:nvPicPr>
          <p:cNvPr id="2097171" name="Google Shape;194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6581775" y="3896617"/>
            <a:ext cx="152400" cy="152400"/>
          </a:xfrm>
          <a:prstGeom prst="rect"/>
          <a:noFill/>
          <a:ln>
            <a:noFill/>
          </a:ln>
        </p:spPr>
      </p:pic>
      <p:pic>
        <p:nvPicPr>
          <p:cNvPr id="2097172" name="Google Shape;195;p17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6581775" y="4201417"/>
            <a:ext cx="152400" cy="152400"/>
          </a:xfrm>
          <a:prstGeom prst="rect"/>
          <a:noFill/>
          <a:ln>
            <a:noFill/>
          </a:ln>
        </p:spPr>
      </p:pic>
      <p:sp>
        <p:nvSpPr>
          <p:cNvPr id="1048667" name="Google Shape;196;p17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STATE OF CURRENT METHODS</a:t>
            </a:r>
          </a:p>
        </p:txBody>
      </p:sp>
      <p:sp>
        <p:nvSpPr>
          <p:cNvPr id="1048668" name="Google Shape;197;p17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Existing System</a:t>
            </a:r>
          </a:p>
        </p:txBody>
      </p:sp>
      <p:sp>
        <p:nvSpPr>
          <p:cNvPr id="1048669" name="Google Shape;198;p17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670" name="Google Shape;199;p17"/>
          <p:cNvSpPr txBox="1"/>
          <p:nvPr/>
        </p:nvSpPr>
        <p:spPr>
          <a:xfrm>
            <a:off x="11001375" y="6162675"/>
            <a:ext cx="79057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05</a:t>
            </a:r>
          </a:p>
        </p:txBody>
      </p:sp>
      <p:sp>
        <p:nvSpPr>
          <p:cNvPr id="1048671" name="Google Shape;200;p17"/>
          <p:cNvSpPr txBox="1"/>
          <p:nvPr/>
        </p:nvSpPr>
        <p:spPr>
          <a:xfrm>
            <a:off x="1000125" y="2810767"/>
            <a:ext cx="6050756" cy="2667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650" i="0" lang="en-US" strike="noStrike" u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Conventional Resources</a:t>
            </a:r>
          </a:p>
        </p:txBody>
      </p:sp>
      <p:sp>
        <p:nvSpPr>
          <p:cNvPr id="1048672" name="Google Shape;201;p17"/>
          <p:cNvSpPr txBox="1"/>
          <p:nvPr/>
        </p:nvSpPr>
        <p:spPr>
          <a:xfrm>
            <a:off x="6581775" y="2810767"/>
            <a:ext cx="5610225" cy="2667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650" i="0" lang="en-US" strike="noStrike" u="non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Limitations</a:t>
            </a:r>
          </a:p>
        </p:txBody>
      </p:sp>
      <p:sp>
        <p:nvSpPr>
          <p:cNvPr id="1048673" name="Google Shape;202;p17"/>
          <p:cNvSpPr txBox="1"/>
          <p:nvPr/>
        </p:nvSpPr>
        <p:spPr>
          <a:xfrm>
            <a:off x="1247775" y="3267967"/>
            <a:ext cx="2976562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Static textbooks and paper notes</a:t>
            </a:r>
          </a:p>
        </p:txBody>
      </p:sp>
      <p:sp>
        <p:nvSpPr>
          <p:cNvPr id="1048674" name="Google Shape;203;p17"/>
          <p:cNvSpPr txBox="1"/>
          <p:nvPr/>
        </p:nvSpPr>
        <p:spPr>
          <a:xfrm>
            <a:off x="1266825" y="3572767"/>
            <a:ext cx="2643187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Dispersed web search results</a:t>
            </a:r>
          </a:p>
        </p:txBody>
      </p:sp>
      <p:sp>
        <p:nvSpPr>
          <p:cNvPr id="1048675" name="Google Shape;204;p17"/>
          <p:cNvSpPr txBox="1"/>
          <p:nvPr/>
        </p:nvSpPr>
        <p:spPr>
          <a:xfrm>
            <a:off x="1266825" y="3877567"/>
            <a:ext cx="3214687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Manually prepared practice quizzes</a:t>
            </a:r>
          </a:p>
        </p:txBody>
      </p:sp>
      <p:sp>
        <p:nvSpPr>
          <p:cNvPr id="1048676" name="Google Shape;205;p17"/>
          <p:cNvSpPr txBox="1"/>
          <p:nvPr/>
        </p:nvSpPr>
        <p:spPr>
          <a:xfrm>
            <a:off x="1266825" y="4182367"/>
            <a:ext cx="3012281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Generic, unpersonalized curricula</a:t>
            </a:r>
          </a:p>
        </p:txBody>
      </p:sp>
      <p:sp>
        <p:nvSpPr>
          <p:cNvPr id="1048677" name="Google Shape;206;p17"/>
          <p:cNvSpPr txBox="1"/>
          <p:nvPr/>
        </p:nvSpPr>
        <p:spPr>
          <a:xfrm>
            <a:off x="6848475" y="3267967"/>
            <a:ext cx="4202906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Minimal personalization for struggling students</a:t>
            </a:r>
          </a:p>
        </p:txBody>
      </p:sp>
      <p:sp>
        <p:nvSpPr>
          <p:cNvPr id="1048678" name="Google Shape;207;p17"/>
          <p:cNvSpPr txBox="1"/>
          <p:nvPr/>
        </p:nvSpPr>
        <p:spPr>
          <a:xfrm>
            <a:off x="6848475" y="3572767"/>
            <a:ext cx="3869531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Time-consuming preparation and synthesis</a:t>
            </a:r>
          </a:p>
        </p:txBody>
      </p:sp>
      <p:sp>
        <p:nvSpPr>
          <p:cNvPr id="1048679" name="Google Shape;208;p17"/>
          <p:cNvSpPr txBox="1"/>
          <p:nvPr/>
        </p:nvSpPr>
        <p:spPr>
          <a:xfrm>
            <a:off x="6848475" y="3877567"/>
            <a:ext cx="3821906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Fragmented across multiple separate tools</a:t>
            </a:r>
          </a:p>
        </p:txBody>
      </p:sp>
      <p:sp>
        <p:nvSpPr>
          <p:cNvPr id="1048680" name="Google Shape;209;p17"/>
          <p:cNvSpPr txBox="1"/>
          <p:nvPr/>
        </p:nvSpPr>
        <p:spPr>
          <a:xfrm>
            <a:off x="6848475" y="4182367"/>
            <a:ext cx="3167062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7F1D1D"/>
                </a:solidFill>
                <a:latin typeface="Inter"/>
                <a:ea typeface="Inter"/>
                <a:cs typeface="Inter"/>
                <a:sym typeface="Inter"/>
              </a:rPr>
              <a:t>Lack of active interactive feedback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48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Google Shape;214;p18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4" name="Google Shape;215;p18"/>
          <p:cNvSpPr/>
          <p:nvPr/>
        </p:nvSpPr>
        <p:spPr>
          <a:xfrm>
            <a:off x="685800" y="2396430"/>
            <a:ext cx="10820400" cy="14859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5" name="Google Shape;216;p18"/>
          <p:cNvSpPr/>
          <p:nvPr/>
        </p:nvSpPr>
        <p:spPr>
          <a:xfrm>
            <a:off x="685800" y="4110930"/>
            <a:ext cx="10820400" cy="676275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686" name="Google Shape;217;p18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73" name="Google Shape;218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3419475" y="3044130"/>
            <a:ext cx="171450" cy="190500"/>
          </a:xfrm>
          <a:prstGeom prst="rect"/>
          <a:noFill/>
          <a:ln>
            <a:noFill/>
          </a:ln>
        </p:spPr>
      </p:pic>
      <p:pic>
        <p:nvPicPr>
          <p:cNvPr id="2097174" name="Google Shape;219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6010275" y="3044130"/>
            <a:ext cx="171450" cy="190500"/>
          </a:xfrm>
          <a:prstGeom prst="rect"/>
          <a:noFill/>
          <a:ln>
            <a:noFill/>
          </a:ln>
        </p:spPr>
      </p:pic>
      <p:pic>
        <p:nvPicPr>
          <p:cNvPr id="2097175" name="Google Shape;220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8601075" y="3044130"/>
            <a:ext cx="171450" cy="190500"/>
          </a:xfrm>
          <a:prstGeom prst="rect"/>
          <a:noFill/>
          <a:ln>
            <a:noFill/>
          </a:ln>
        </p:spPr>
      </p:pic>
      <p:pic>
        <p:nvPicPr>
          <p:cNvPr id="2097176" name="Google Shape;221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1962150" y="2634555"/>
            <a:ext cx="495300" cy="495300"/>
          </a:xfrm>
          <a:prstGeom prst="rect"/>
          <a:noFill/>
          <a:ln>
            <a:noFill/>
          </a:ln>
        </p:spPr>
      </p:pic>
      <p:pic>
        <p:nvPicPr>
          <p:cNvPr id="2097177" name="Google Shape;222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4552950" y="2634555"/>
            <a:ext cx="495300" cy="495300"/>
          </a:xfrm>
          <a:prstGeom prst="rect"/>
          <a:noFill/>
          <a:ln>
            <a:noFill/>
          </a:ln>
        </p:spPr>
      </p:pic>
      <p:pic>
        <p:nvPicPr>
          <p:cNvPr id="2097178" name="Google Shape;223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7143750" y="2634555"/>
            <a:ext cx="495300" cy="495300"/>
          </a:xfrm>
          <a:prstGeom prst="rect"/>
          <a:noFill/>
          <a:ln>
            <a:noFill/>
          </a:ln>
        </p:spPr>
      </p:pic>
      <p:pic>
        <p:nvPicPr>
          <p:cNvPr id="2097179" name="Google Shape;224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6">
            <a:alphaModFix/>
          </a:blip>
          <a:srcRect/>
          <a:stretch>
            <a:fillRect/>
          </a:stretch>
        </p:blipFill>
        <p:spPr>
          <a:xfrm>
            <a:off x="9734550" y="2634555"/>
            <a:ext cx="495300" cy="495300"/>
          </a:xfrm>
          <a:prstGeom prst="rect"/>
          <a:noFill/>
          <a:ln>
            <a:noFill/>
          </a:ln>
        </p:spPr>
      </p:pic>
      <p:pic>
        <p:nvPicPr>
          <p:cNvPr id="2097180" name="Google Shape;225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7">
            <a:alphaModFix/>
          </a:blip>
          <a:srcRect/>
          <a:stretch>
            <a:fillRect/>
          </a:stretch>
        </p:blipFill>
        <p:spPr>
          <a:xfrm>
            <a:off x="2119312" y="2777430"/>
            <a:ext cx="180975" cy="209550"/>
          </a:xfrm>
          <a:prstGeom prst="rect"/>
          <a:noFill/>
          <a:ln>
            <a:noFill/>
          </a:ln>
        </p:spPr>
      </p:pic>
      <p:pic>
        <p:nvPicPr>
          <p:cNvPr id="2097181" name="Google Shape;226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8">
            <a:alphaModFix/>
          </a:blip>
          <a:srcRect/>
          <a:stretch>
            <a:fillRect/>
          </a:stretch>
        </p:blipFill>
        <p:spPr>
          <a:xfrm>
            <a:off x="4695825" y="2777430"/>
            <a:ext cx="209550" cy="209550"/>
          </a:xfrm>
          <a:prstGeom prst="rect"/>
          <a:noFill/>
          <a:ln>
            <a:noFill/>
          </a:ln>
        </p:spPr>
      </p:pic>
      <p:pic>
        <p:nvPicPr>
          <p:cNvPr id="2097182" name="Google Shape;227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9">
            <a:alphaModFix/>
          </a:blip>
          <a:srcRect/>
          <a:stretch>
            <a:fillRect/>
          </a:stretch>
        </p:blipFill>
        <p:spPr>
          <a:xfrm>
            <a:off x="7272337" y="2777430"/>
            <a:ext cx="238125" cy="209550"/>
          </a:xfrm>
          <a:prstGeom prst="rect"/>
          <a:noFill/>
          <a:ln>
            <a:noFill/>
          </a:ln>
        </p:spPr>
      </p:pic>
      <p:pic>
        <p:nvPicPr>
          <p:cNvPr id="2097183" name="Google Shape;228;p1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0">
            <a:alphaModFix/>
          </a:blip>
          <a:srcRect/>
          <a:stretch>
            <a:fillRect/>
          </a:stretch>
        </p:blipFill>
        <p:spPr>
          <a:xfrm>
            <a:off x="9891712" y="2777430"/>
            <a:ext cx="180975" cy="209550"/>
          </a:xfrm>
          <a:prstGeom prst="rect"/>
          <a:noFill/>
          <a:ln>
            <a:noFill/>
          </a:ln>
        </p:spPr>
      </p:pic>
      <p:sp>
        <p:nvSpPr>
          <p:cNvPr id="1048687" name="Google Shape;229;p18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THE EDUGENIE APPROACH</a:t>
            </a:r>
          </a:p>
        </p:txBody>
      </p:sp>
      <p:sp>
        <p:nvSpPr>
          <p:cNvPr id="1048688" name="Google Shape;230;p18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System</a:t>
            </a:r>
          </a:p>
        </p:txBody>
      </p:sp>
      <p:sp>
        <p:nvSpPr>
          <p:cNvPr id="1048689" name="Google Shape;231;p18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690" name="Google Shape;232;p18"/>
          <p:cNvSpPr txBox="1"/>
          <p:nvPr/>
        </p:nvSpPr>
        <p:spPr>
          <a:xfrm>
            <a:off x="10991850" y="6162675"/>
            <a:ext cx="8001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06</a:t>
            </a:r>
          </a:p>
        </p:txBody>
      </p:sp>
      <p:sp>
        <p:nvSpPr>
          <p:cNvPr id="1048691" name="Google Shape;233;p18"/>
          <p:cNvSpPr txBox="1"/>
          <p:nvPr/>
        </p:nvSpPr>
        <p:spPr>
          <a:xfrm>
            <a:off x="-136921" y="4349055"/>
            <a:ext cx="12465843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Combines multiple AI-powered learning functions into a single centralized web application.</a:t>
            </a:r>
          </a:p>
        </p:txBody>
      </p:sp>
      <p:sp>
        <p:nvSpPr>
          <p:cNvPr id="1048692" name="Google Shape;234;p18"/>
          <p:cNvSpPr txBox="1"/>
          <p:nvPr/>
        </p:nvSpPr>
        <p:spPr>
          <a:xfrm>
            <a:off x="697706" y="3244155"/>
            <a:ext cx="302418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Student</a:t>
            </a:r>
          </a:p>
        </p:txBody>
      </p:sp>
      <p:sp>
        <p:nvSpPr>
          <p:cNvPr id="1048693" name="Google Shape;235;p18"/>
          <p:cNvSpPr txBox="1"/>
          <p:nvPr/>
        </p:nvSpPr>
        <p:spPr>
          <a:xfrm>
            <a:off x="697706" y="3482280"/>
            <a:ext cx="3024187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Inputs query or text</a:t>
            </a:r>
          </a:p>
        </p:txBody>
      </p:sp>
      <p:sp>
        <p:nvSpPr>
          <p:cNvPr id="1048694" name="Google Shape;236;p18"/>
          <p:cNvSpPr txBox="1"/>
          <p:nvPr/>
        </p:nvSpPr>
        <p:spPr>
          <a:xfrm>
            <a:off x="3288506" y="3244155"/>
            <a:ext cx="302418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EduGenie</a:t>
            </a:r>
          </a:p>
        </p:txBody>
      </p:sp>
      <p:sp>
        <p:nvSpPr>
          <p:cNvPr id="1048695" name="Google Shape;237;p18"/>
          <p:cNvSpPr txBox="1"/>
          <p:nvPr/>
        </p:nvSpPr>
        <p:spPr>
          <a:xfrm>
            <a:off x="3288506" y="3482280"/>
            <a:ext cx="3024187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Unified React portal</a:t>
            </a:r>
          </a:p>
        </p:txBody>
      </p:sp>
      <p:sp>
        <p:nvSpPr>
          <p:cNvPr id="1048696" name="Google Shape;238;p18"/>
          <p:cNvSpPr txBox="1"/>
          <p:nvPr/>
        </p:nvSpPr>
        <p:spPr>
          <a:xfrm>
            <a:off x="5879306" y="3244155"/>
            <a:ext cx="302418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AI Processing</a:t>
            </a:r>
          </a:p>
        </p:txBody>
      </p:sp>
      <p:sp>
        <p:nvSpPr>
          <p:cNvPr id="1048697" name="Google Shape;239;p18"/>
          <p:cNvSpPr txBox="1"/>
          <p:nvPr/>
        </p:nvSpPr>
        <p:spPr>
          <a:xfrm>
            <a:off x="5879306" y="3482280"/>
            <a:ext cx="3024187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Google Gemini LLM</a:t>
            </a:r>
          </a:p>
        </p:txBody>
      </p:sp>
      <p:sp>
        <p:nvSpPr>
          <p:cNvPr id="1048698" name="Google Shape;240;p18"/>
          <p:cNvSpPr txBox="1"/>
          <p:nvPr/>
        </p:nvSpPr>
        <p:spPr>
          <a:xfrm>
            <a:off x="8470106" y="3244155"/>
            <a:ext cx="3024187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Educational Output</a:t>
            </a:r>
          </a:p>
        </p:txBody>
      </p:sp>
      <p:sp>
        <p:nvSpPr>
          <p:cNvPr id="1048699" name="Google Shape;241;p18"/>
          <p:cNvSpPr txBox="1"/>
          <p:nvPr/>
        </p:nvSpPr>
        <p:spPr>
          <a:xfrm>
            <a:off x="8470106" y="3482280"/>
            <a:ext cx="3024187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Structured 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Google Shape;246;p19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3" name="Google Shape;247;p19"/>
          <p:cNvSpPr/>
          <p:nvPr/>
        </p:nvSpPr>
        <p:spPr>
          <a:xfrm>
            <a:off x="685800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4" name="Google Shape;248;p19"/>
          <p:cNvSpPr/>
          <p:nvPr/>
        </p:nvSpPr>
        <p:spPr>
          <a:xfrm>
            <a:off x="2880419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5" name="Google Shape;249;p19"/>
          <p:cNvSpPr/>
          <p:nvPr/>
        </p:nvSpPr>
        <p:spPr>
          <a:xfrm>
            <a:off x="5075039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6" name="Google Shape;250;p19"/>
          <p:cNvSpPr/>
          <p:nvPr/>
        </p:nvSpPr>
        <p:spPr>
          <a:xfrm>
            <a:off x="7269658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7" name="Google Shape;251;p19"/>
          <p:cNvSpPr/>
          <p:nvPr/>
        </p:nvSpPr>
        <p:spPr>
          <a:xfrm>
            <a:off x="9464278" y="2948880"/>
            <a:ext cx="204221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08" name="Google Shape;252;p19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84" name="Google Shape;253;p19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1573559" y="3187005"/>
            <a:ext cx="266700" cy="266700"/>
          </a:xfrm>
          <a:prstGeom prst="rect"/>
          <a:noFill/>
          <a:ln>
            <a:noFill/>
          </a:ln>
        </p:spPr>
      </p:pic>
      <p:pic>
        <p:nvPicPr>
          <p:cNvPr id="2097185" name="Google Shape;254;p19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3801516" y="3187005"/>
            <a:ext cx="200025" cy="266700"/>
          </a:xfrm>
          <a:prstGeom prst="rect"/>
          <a:noFill/>
          <a:ln>
            <a:noFill/>
          </a:ln>
        </p:spPr>
      </p:pic>
      <p:pic>
        <p:nvPicPr>
          <p:cNvPr id="2097186" name="Google Shape;255;p19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5962798" y="3187005"/>
            <a:ext cx="266700" cy="266700"/>
          </a:xfrm>
          <a:prstGeom prst="rect"/>
          <a:noFill/>
          <a:ln>
            <a:noFill/>
          </a:ln>
        </p:spPr>
      </p:pic>
      <p:pic>
        <p:nvPicPr>
          <p:cNvPr id="2097187" name="Google Shape;256;p19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8190755" y="3187005"/>
            <a:ext cx="200025" cy="266700"/>
          </a:xfrm>
          <a:prstGeom prst="rect"/>
          <a:noFill/>
          <a:ln>
            <a:noFill/>
          </a:ln>
        </p:spPr>
      </p:pic>
      <p:pic>
        <p:nvPicPr>
          <p:cNvPr id="2097188" name="Google Shape;257;p19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10352037" y="3187005"/>
            <a:ext cx="266700" cy="266700"/>
          </a:xfrm>
          <a:prstGeom prst="rect"/>
          <a:noFill/>
          <a:ln>
            <a:noFill/>
          </a:ln>
        </p:spPr>
      </p:pic>
      <p:sp>
        <p:nvSpPr>
          <p:cNvPr id="1048709" name="Google Shape;258;p19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PLATFORM CAPABILITIES</a:t>
            </a:r>
          </a:p>
        </p:txBody>
      </p:sp>
      <p:sp>
        <p:nvSpPr>
          <p:cNvPr id="1048710" name="Google Shape;259;p19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Features</a:t>
            </a:r>
          </a:p>
        </p:txBody>
      </p:sp>
      <p:sp>
        <p:nvSpPr>
          <p:cNvPr id="1048711" name="Google Shape;260;p19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712" name="Google Shape;261;p19"/>
          <p:cNvSpPr txBox="1"/>
          <p:nvPr/>
        </p:nvSpPr>
        <p:spPr>
          <a:xfrm>
            <a:off x="11001375" y="6162675"/>
            <a:ext cx="79057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07</a:t>
            </a:r>
          </a:p>
        </p:txBody>
      </p:sp>
      <p:sp>
        <p:nvSpPr>
          <p:cNvPr id="1048713" name="Google Shape;262;p19"/>
          <p:cNvSpPr txBox="1"/>
          <p:nvPr/>
        </p:nvSpPr>
        <p:spPr>
          <a:xfrm>
            <a:off x="604232" y="3568005"/>
            <a:ext cx="2205353" cy="1778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7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Q&amp;A</a:t>
            </a:r>
          </a:p>
        </p:txBody>
      </p:sp>
      <p:sp>
        <p:nvSpPr>
          <p:cNvPr id="1048714" name="Google Shape;263;p19"/>
          <p:cNvSpPr txBox="1"/>
          <p:nvPr/>
        </p:nvSpPr>
        <p:spPr>
          <a:xfrm>
            <a:off x="656741" y="3834705"/>
            <a:ext cx="210033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Clear academic answers.</a:t>
            </a:r>
          </a:p>
        </p:txBody>
      </p:sp>
      <p:sp>
        <p:nvSpPr>
          <p:cNvPr id="1048715" name="Google Shape;264;p19"/>
          <p:cNvSpPr txBox="1"/>
          <p:nvPr/>
        </p:nvSpPr>
        <p:spPr>
          <a:xfrm>
            <a:off x="2798852" y="3568005"/>
            <a:ext cx="2205353" cy="1778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7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Explain</a:t>
            </a:r>
          </a:p>
        </p:txBody>
      </p:sp>
      <p:sp>
        <p:nvSpPr>
          <p:cNvPr id="1048716" name="Google Shape;265;p19"/>
          <p:cNvSpPr txBox="1"/>
          <p:nvPr/>
        </p:nvSpPr>
        <p:spPr>
          <a:xfrm>
            <a:off x="2851360" y="3834705"/>
            <a:ext cx="210033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Simplifies complex topics.</a:t>
            </a:r>
          </a:p>
        </p:txBody>
      </p:sp>
      <p:sp>
        <p:nvSpPr>
          <p:cNvPr id="1048717" name="Google Shape;266;p19"/>
          <p:cNvSpPr txBox="1"/>
          <p:nvPr/>
        </p:nvSpPr>
        <p:spPr>
          <a:xfrm>
            <a:off x="4993471" y="3568005"/>
            <a:ext cx="2205353" cy="1778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7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Quiz</a:t>
            </a:r>
          </a:p>
        </p:txBody>
      </p:sp>
      <p:sp>
        <p:nvSpPr>
          <p:cNvPr id="1048718" name="Google Shape;267;p19"/>
          <p:cNvSpPr txBox="1"/>
          <p:nvPr/>
        </p:nvSpPr>
        <p:spPr>
          <a:xfrm>
            <a:off x="5045980" y="3834705"/>
            <a:ext cx="210033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Evaluates understanding.</a:t>
            </a:r>
          </a:p>
        </p:txBody>
      </p:sp>
      <p:sp>
        <p:nvSpPr>
          <p:cNvPr id="1048719" name="Google Shape;268;p19"/>
          <p:cNvSpPr txBox="1"/>
          <p:nvPr/>
        </p:nvSpPr>
        <p:spPr>
          <a:xfrm>
            <a:off x="7188091" y="3568005"/>
            <a:ext cx="2205353" cy="1778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7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Summarizer</a:t>
            </a:r>
          </a:p>
        </p:txBody>
      </p:sp>
      <p:sp>
        <p:nvSpPr>
          <p:cNvPr id="1048720" name="Google Shape;269;p19"/>
          <p:cNvSpPr txBox="1"/>
          <p:nvPr/>
        </p:nvSpPr>
        <p:spPr>
          <a:xfrm>
            <a:off x="7240599" y="3834705"/>
            <a:ext cx="210033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Condenses study notes.</a:t>
            </a:r>
          </a:p>
        </p:txBody>
      </p:sp>
      <p:sp>
        <p:nvSpPr>
          <p:cNvPr id="1048721" name="Google Shape;270;p19"/>
          <p:cNvSpPr txBox="1"/>
          <p:nvPr/>
        </p:nvSpPr>
        <p:spPr>
          <a:xfrm>
            <a:off x="9382711" y="3568005"/>
            <a:ext cx="2205353" cy="1778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7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Path</a:t>
            </a:r>
          </a:p>
        </p:txBody>
      </p:sp>
      <p:sp>
        <p:nvSpPr>
          <p:cNvPr id="1048722" name="Google Shape;271;p19"/>
          <p:cNvSpPr txBox="1"/>
          <p:nvPr/>
        </p:nvSpPr>
        <p:spPr>
          <a:xfrm>
            <a:off x="9435219" y="3834705"/>
            <a:ext cx="210033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Structured topic guide.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54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Google Shape;276;p20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6" name="Google Shape;277;p20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7" name="Google Shape;278;p20"/>
          <p:cNvSpPr/>
          <p:nvPr/>
        </p:nvSpPr>
        <p:spPr>
          <a:xfrm>
            <a:off x="685800" y="22202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1E293B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8" name="Google Shape;279;p20"/>
          <p:cNvSpPr/>
          <p:nvPr/>
        </p:nvSpPr>
        <p:spPr>
          <a:xfrm>
            <a:off x="685800" y="27917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2563EB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29" name="Google Shape;280;p20"/>
          <p:cNvSpPr/>
          <p:nvPr/>
        </p:nvSpPr>
        <p:spPr>
          <a:xfrm>
            <a:off x="685800" y="33632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0" name="Google Shape;281;p20"/>
          <p:cNvSpPr/>
          <p:nvPr/>
        </p:nvSpPr>
        <p:spPr>
          <a:xfrm>
            <a:off x="685800" y="39347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7C3AED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1" name="Google Shape;282;p20"/>
          <p:cNvSpPr/>
          <p:nvPr/>
        </p:nvSpPr>
        <p:spPr>
          <a:xfrm>
            <a:off x="685800" y="4506217"/>
            <a:ext cx="1714500" cy="457200"/>
          </a:xfrm>
          <a:prstGeom prst="roundRect">
            <a:avLst>
              <a:gd name="adj" fmla="val 16666"/>
            </a:avLst>
          </a:prstGeom>
          <a:solidFill>
            <a:srgbClr val="0D9488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32" name="Google Shape;283;p20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SOFTWARE ENGINEERING</a:t>
            </a:r>
          </a:p>
        </p:txBody>
      </p:sp>
      <p:sp>
        <p:nvSpPr>
          <p:cNvPr id="1048733" name="Google Shape;284;p20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</a:p>
        </p:txBody>
      </p:sp>
      <p:sp>
        <p:nvSpPr>
          <p:cNvPr id="1048734" name="Google Shape;285;p20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735" name="Google Shape;286;p20"/>
          <p:cNvSpPr txBox="1"/>
          <p:nvPr/>
        </p:nvSpPr>
        <p:spPr>
          <a:xfrm>
            <a:off x="10991850" y="6162675"/>
            <a:ext cx="8001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08</a:t>
            </a:r>
          </a:p>
        </p:txBody>
      </p:sp>
      <p:sp>
        <p:nvSpPr>
          <p:cNvPr id="1048736" name="Google Shape;287;p20"/>
          <p:cNvSpPr txBox="1"/>
          <p:nvPr/>
        </p:nvSpPr>
        <p:spPr>
          <a:xfrm>
            <a:off x="2552700" y="2353567"/>
            <a:ext cx="461962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7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React-based user interface and state rendering.</a:t>
            </a:r>
          </a:p>
        </p:txBody>
      </p:sp>
      <p:sp>
        <p:nvSpPr>
          <p:cNvPr id="1048737" name="Google Shape;288;p20"/>
          <p:cNvSpPr txBox="1"/>
          <p:nvPr/>
        </p:nvSpPr>
        <p:spPr>
          <a:xfrm>
            <a:off x="2552700" y="2925067"/>
            <a:ext cx="4179093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7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handling and client input validation.</a:t>
            </a:r>
          </a:p>
        </p:txBody>
      </p:sp>
      <p:sp>
        <p:nvSpPr>
          <p:cNvPr id="1048738" name="Google Shape;289;p20"/>
          <p:cNvSpPr txBox="1"/>
          <p:nvPr/>
        </p:nvSpPr>
        <p:spPr>
          <a:xfrm>
            <a:off x="2552700" y="3496567"/>
            <a:ext cx="5441156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7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 prompt creation and Gemini API communication.</a:t>
            </a:r>
          </a:p>
        </p:txBody>
      </p:sp>
      <p:sp>
        <p:nvSpPr>
          <p:cNvPr id="1048739" name="Google Shape;290;p20"/>
          <p:cNvSpPr txBox="1"/>
          <p:nvPr/>
        </p:nvSpPr>
        <p:spPr>
          <a:xfrm>
            <a:off x="2552700" y="4068067"/>
            <a:ext cx="595312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7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Generative AI engine performing natural language processing.</a:t>
            </a:r>
          </a:p>
        </p:txBody>
      </p:sp>
      <p:sp>
        <p:nvSpPr>
          <p:cNvPr id="1048740" name="Google Shape;291;p20"/>
          <p:cNvSpPr txBox="1"/>
          <p:nvPr/>
        </p:nvSpPr>
        <p:spPr>
          <a:xfrm>
            <a:off x="2552700" y="4639567"/>
            <a:ext cx="4191000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7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Response validation and final UI formatting.</a:t>
            </a:r>
          </a:p>
        </p:txBody>
      </p:sp>
      <p:sp>
        <p:nvSpPr>
          <p:cNvPr id="1048741" name="Google Shape;292;p20"/>
          <p:cNvSpPr txBox="1"/>
          <p:nvPr/>
        </p:nvSpPr>
        <p:spPr>
          <a:xfrm>
            <a:off x="709612" y="2353567"/>
            <a:ext cx="166687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 Layer</a:t>
            </a:r>
          </a:p>
        </p:txBody>
      </p:sp>
      <p:sp>
        <p:nvSpPr>
          <p:cNvPr id="1048742" name="Google Shape;293;p20"/>
          <p:cNvSpPr txBox="1"/>
          <p:nvPr/>
        </p:nvSpPr>
        <p:spPr>
          <a:xfrm>
            <a:off x="709612" y="2925067"/>
            <a:ext cx="166687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 Logic Layer</a:t>
            </a:r>
          </a:p>
        </p:txBody>
      </p:sp>
      <p:sp>
        <p:nvSpPr>
          <p:cNvPr id="1048743" name="Google Shape;294;p20"/>
          <p:cNvSpPr txBox="1"/>
          <p:nvPr/>
        </p:nvSpPr>
        <p:spPr>
          <a:xfrm>
            <a:off x="709612" y="3496567"/>
            <a:ext cx="166687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Service Layer</a:t>
            </a:r>
          </a:p>
        </p:txBody>
      </p:sp>
      <p:sp>
        <p:nvSpPr>
          <p:cNvPr id="1048744" name="Google Shape;295;p20"/>
          <p:cNvSpPr txBox="1"/>
          <p:nvPr/>
        </p:nvSpPr>
        <p:spPr>
          <a:xfrm>
            <a:off x="709612" y="4068067"/>
            <a:ext cx="166687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Google Gemini</a:t>
            </a:r>
          </a:p>
        </p:txBody>
      </p:sp>
      <p:sp>
        <p:nvSpPr>
          <p:cNvPr id="1048745" name="Google Shape;296;p20"/>
          <p:cNvSpPr txBox="1"/>
          <p:nvPr/>
        </p:nvSpPr>
        <p:spPr>
          <a:xfrm>
            <a:off x="709612" y="4639567"/>
            <a:ext cx="166687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Processing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7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Google Shape;301;p21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49" name="Google Shape;302;p21"/>
          <p:cNvSpPr/>
          <p:nvPr/>
        </p:nvSpPr>
        <p:spPr>
          <a:xfrm>
            <a:off x="685800" y="2487959"/>
            <a:ext cx="3454449" cy="2207716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0" name="Google Shape;303;p21"/>
          <p:cNvSpPr/>
          <p:nvPr/>
        </p:nvSpPr>
        <p:spPr>
          <a:xfrm>
            <a:off x="4368849" y="2487959"/>
            <a:ext cx="3454449" cy="2207716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1" name="Google Shape;304;p21"/>
          <p:cNvSpPr/>
          <p:nvPr/>
        </p:nvSpPr>
        <p:spPr>
          <a:xfrm>
            <a:off x="8051899" y="2487959"/>
            <a:ext cx="3454449" cy="2207716"/>
          </a:xfrm>
          <a:prstGeom prst="roundRect">
            <a:avLst>
              <a:gd name="adj" fmla="val 517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52" name="Google Shape;305;p21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89" name="Google Shape;306;p21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23925" y="2802284"/>
            <a:ext cx="342900" cy="342900"/>
          </a:xfrm>
          <a:prstGeom prst="rect"/>
          <a:noFill/>
          <a:ln>
            <a:noFill/>
          </a:ln>
        </p:spPr>
      </p:pic>
      <p:pic>
        <p:nvPicPr>
          <p:cNvPr id="2097190" name="Google Shape;307;p21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4606974" y="2802284"/>
            <a:ext cx="342900" cy="342900"/>
          </a:xfrm>
          <a:prstGeom prst="rect"/>
          <a:noFill/>
          <a:ln>
            <a:noFill/>
          </a:ln>
        </p:spPr>
      </p:pic>
      <p:pic>
        <p:nvPicPr>
          <p:cNvPr id="2097191" name="Google Shape;308;p21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290024" y="2802284"/>
            <a:ext cx="428625" cy="342900"/>
          </a:xfrm>
          <a:prstGeom prst="rect"/>
          <a:noFill/>
          <a:ln>
            <a:noFill/>
          </a:ln>
        </p:spPr>
      </p:pic>
      <p:sp>
        <p:nvSpPr>
          <p:cNvPr id="1048753" name="Google Shape;309;p21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TOOLING &amp; INFRASTRUCTURE</a:t>
            </a:r>
          </a:p>
        </p:txBody>
      </p:sp>
      <p:sp>
        <p:nvSpPr>
          <p:cNvPr id="1048754" name="Google Shape;310;p21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</a:p>
        </p:txBody>
      </p:sp>
      <p:sp>
        <p:nvSpPr>
          <p:cNvPr id="1048755" name="Google Shape;311;p21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756" name="Google Shape;312;p21"/>
          <p:cNvSpPr txBox="1"/>
          <p:nvPr/>
        </p:nvSpPr>
        <p:spPr>
          <a:xfrm>
            <a:off x="10991850" y="6162675"/>
            <a:ext cx="8001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09</a:t>
            </a:r>
          </a:p>
        </p:txBody>
      </p:sp>
      <p:sp>
        <p:nvSpPr>
          <p:cNvPr id="1048757" name="Google Shape;313;p21"/>
          <p:cNvSpPr txBox="1"/>
          <p:nvPr/>
        </p:nvSpPr>
        <p:spPr>
          <a:xfrm>
            <a:off x="923925" y="3297584"/>
            <a:ext cx="3908886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</a:t>
            </a:r>
          </a:p>
        </p:txBody>
      </p:sp>
      <p:sp>
        <p:nvSpPr>
          <p:cNvPr id="1048758" name="Google Shape;314;p21"/>
          <p:cNvSpPr txBox="1"/>
          <p:nvPr/>
        </p:nvSpPr>
        <p:spPr>
          <a:xfrm>
            <a:off x="923925" y="3650009"/>
            <a:ext cx="3073449" cy="75860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React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JavaScript (ES6+)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HTML5 &amp; CSS3</a:t>
            </a:r>
          </a:p>
        </p:txBody>
      </p:sp>
      <p:sp>
        <p:nvSpPr>
          <p:cNvPr id="1048759" name="Google Shape;315;p21"/>
          <p:cNvSpPr txBox="1"/>
          <p:nvPr/>
        </p:nvSpPr>
        <p:spPr>
          <a:xfrm>
            <a:off x="4606974" y="3297584"/>
            <a:ext cx="3908886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Artificial Intelligence</a:t>
            </a:r>
          </a:p>
        </p:txBody>
      </p:sp>
      <p:sp>
        <p:nvSpPr>
          <p:cNvPr id="1048760" name="Google Shape;316;p21"/>
          <p:cNvSpPr txBox="1"/>
          <p:nvPr/>
        </p:nvSpPr>
        <p:spPr>
          <a:xfrm>
            <a:off x="4606974" y="3650009"/>
            <a:ext cx="3073449" cy="75860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Google Gemini API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Generative AI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Prompt Engineering</a:t>
            </a:r>
          </a:p>
        </p:txBody>
      </p:sp>
      <p:sp>
        <p:nvSpPr>
          <p:cNvPr id="1048761" name="Google Shape;317;p21"/>
          <p:cNvSpPr txBox="1"/>
          <p:nvPr/>
        </p:nvSpPr>
        <p:spPr>
          <a:xfrm>
            <a:off x="8290024" y="3297584"/>
            <a:ext cx="3901975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Platform</a:t>
            </a:r>
          </a:p>
        </p:txBody>
      </p:sp>
      <p:sp>
        <p:nvSpPr>
          <p:cNvPr id="1048762" name="Google Shape;318;p21"/>
          <p:cNvSpPr txBox="1"/>
          <p:nvPr/>
        </p:nvSpPr>
        <p:spPr>
          <a:xfrm>
            <a:off x="8290024" y="3650009"/>
            <a:ext cx="3073449" cy="75860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Google AI Studio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Node.js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npm package manager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60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Google Shape;323;p22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6" name="Google Shape;324;p22"/>
          <p:cNvSpPr/>
          <p:nvPr/>
        </p:nvSpPr>
        <p:spPr>
          <a:xfrm>
            <a:off x="685800" y="2297459"/>
            <a:ext cx="5238750" cy="25887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7" name="Google Shape;325;p22"/>
          <p:cNvSpPr/>
          <p:nvPr/>
        </p:nvSpPr>
        <p:spPr>
          <a:xfrm>
            <a:off x="6267450" y="2571750"/>
            <a:ext cx="5238750" cy="2040135"/>
          </a:xfrm>
          <a:prstGeom prst="roundRect">
            <a:avLst>
              <a:gd name="adj" fmla="val 5602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8" name="Google Shape;326;p22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69" name="Google Shape;327;p22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DOUBT CLARIFICATION</a:t>
            </a:r>
          </a:p>
        </p:txBody>
      </p:sp>
      <p:sp>
        <p:nvSpPr>
          <p:cNvPr id="1048770" name="Google Shape;328;p22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Question &amp; Answer</a:t>
            </a:r>
          </a:p>
        </p:txBody>
      </p:sp>
      <p:sp>
        <p:nvSpPr>
          <p:cNvPr id="1048771" name="Google Shape;329;p22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772" name="Google Shape;330;p22"/>
          <p:cNvSpPr txBox="1"/>
          <p:nvPr/>
        </p:nvSpPr>
        <p:spPr>
          <a:xfrm>
            <a:off x="11020425" y="6162675"/>
            <a:ext cx="77152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10</a:t>
            </a:r>
          </a:p>
        </p:txBody>
      </p:sp>
      <p:sp>
        <p:nvSpPr>
          <p:cNvPr id="1048773" name="Google Shape;331;p22"/>
          <p:cNvSpPr txBox="1"/>
          <p:nvPr/>
        </p:nvSpPr>
        <p:spPr>
          <a:xfrm>
            <a:off x="962025" y="2573684"/>
            <a:ext cx="6150768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Workflow</a:t>
            </a:r>
          </a:p>
        </p:txBody>
      </p:sp>
      <p:sp>
        <p:nvSpPr>
          <p:cNvPr id="1048774" name="Google Shape;332;p22"/>
          <p:cNvSpPr txBox="1"/>
          <p:nvPr/>
        </p:nvSpPr>
        <p:spPr>
          <a:xfrm>
            <a:off x="962025" y="2964209"/>
            <a:ext cx="4781550" cy="181356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Student enters academic question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Input validation check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Feature-specific prompt generation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Google Gemini processing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Structured response formatting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Result displayed to student</a:t>
            </a:r>
          </a:p>
        </p:txBody>
      </p:sp>
      <p:sp>
        <p:nvSpPr>
          <p:cNvPr id="1048775" name="Google Shape;333;p22"/>
          <p:cNvSpPr txBox="1"/>
          <p:nvPr/>
        </p:nvSpPr>
        <p:spPr>
          <a:xfrm>
            <a:off x="6543675" y="2847975"/>
            <a:ext cx="5648325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Benefits</a:t>
            </a:r>
          </a:p>
        </p:txBody>
      </p:sp>
      <p:sp>
        <p:nvSpPr>
          <p:cNvPr id="1048776" name="Google Shape;334;p22"/>
          <p:cNvSpPr txBox="1"/>
          <p:nvPr/>
        </p:nvSpPr>
        <p:spPr>
          <a:xfrm>
            <a:off x="6543675" y="3238500"/>
            <a:ext cx="4781550" cy="11734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Quick academic doubt clarification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Direct and clear explanations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Contextual examples for retention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Friendly, accessible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3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Google Shape;339;p23"/>
          <p:cNvSpPr/>
          <p:nvPr/>
        </p:nvSpPr>
        <p:spPr>
          <a:xfrm>
            <a:off x="685800" y="5829300"/>
            <a:ext cx="10820400" cy="495300"/>
          </a:xfrm>
          <a:prstGeom prst="roundRect">
            <a:avLst>
              <a:gd name="adj" fmla="val 15384"/>
            </a:avLst>
          </a:prstGeom>
          <a:solidFill>
            <a:srgbClr val="F1F5F9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0" name="Google Shape;340;p23"/>
          <p:cNvSpPr/>
          <p:nvPr/>
        </p:nvSpPr>
        <p:spPr>
          <a:xfrm>
            <a:off x="685800" y="2796480"/>
            <a:ext cx="253365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1" name="Google Shape;341;p23"/>
          <p:cNvSpPr/>
          <p:nvPr/>
        </p:nvSpPr>
        <p:spPr>
          <a:xfrm>
            <a:off x="3448050" y="2705992"/>
            <a:ext cx="253365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2" name="Google Shape;342;p23"/>
          <p:cNvSpPr/>
          <p:nvPr/>
        </p:nvSpPr>
        <p:spPr>
          <a:xfrm>
            <a:off x="6210300" y="2796480"/>
            <a:ext cx="253365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83" name="Google Shape;343;p23"/>
          <p:cNvSpPr/>
          <p:nvPr/>
        </p:nvSpPr>
        <p:spPr>
          <a:xfrm>
            <a:off x="8972550" y="2796480"/>
            <a:ext cx="2533650" cy="1419225"/>
          </a:xfrm>
          <a:prstGeom prst="roundRect">
            <a:avLst>
              <a:gd name="adj" fmla="val 805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92" name="Google Shape;344;p23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885825" y="3072705"/>
            <a:ext cx="266700" cy="266700"/>
          </a:xfrm>
          <a:prstGeom prst="rect"/>
          <a:noFill/>
          <a:ln>
            <a:noFill/>
          </a:ln>
        </p:spPr>
      </p:pic>
      <p:pic>
        <p:nvPicPr>
          <p:cNvPr id="2097193" name="Google Shape;345;p23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3648075" y="2982217"/>
            <a:ext cx="304800" cy="266700"/>
          </a:xfrm>
          <a:prstGeom prst="rect"/>
          <a:noFill/>
          <a:ln>
            <a:noFill/>
          </a:ln>
        </p:spPr>
      </p:pic>
      <p:pic>
        <p:nvPicPr>
          <p:cNvPr id="2097194" name="Google Shape;346;p23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6410325" y="3072705"/>
            <a:ext cx="304800" cy="266700"/>
          </a:xfrm>
          <a:prstGeom prst="rect"/>
          <a:noFill/>
          <a:ln>
            <a:noFill/>
          </a:ln>
        </p:spPr>
      </p:pic>
      <p:pic>
        <p:nvPicPr>
          <p:cNvPr id="2097195" name="Google Shape;347;p23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9172575" y="3072705"/>
            <a:ext cx="266700" cy="266700"/>
          </a:xfrm>
          <a:prstGeom prst="rect"/>
          <a:noFill/>
          <a:ln>
            <a:noFill/>
          </a:ln>
        </p:spPr>
      </p:pic>
      <p:sp>
        <p:nvSpPr>
          <p:cNvPr id="1048784" name="Google Shape;348;p23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CONCEPT SIMPLIFICATION</a:t>
            </a:r>
          </a:p>
        </p:txBody>
      </p:sp>
      <p:sp>
        <p:nvSpPr>
          <p:cNvPr id="1048785" name="Google Shape;349;p23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Explain</a:t>
            </a:r>
          </a:p>
        </p:txBody>
      </p:sp>
      <p:sp>
        <p:nvSpPr>
          <p:cNvPr id="1048786" name="Google Shape;350;p23"/>
          <p:cNvSpPr txBox="1"/>
          <p:nvPr/>
        </p:nvSpPr>
        <p:spPr>
          <a:xfrm>
            <a:off x="-190500" y="5981700"/>
            <a:ext cx="12573000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7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Core Purpose: To convert difficult academic concepts into easier-to-understand explanations.</a:t>
            </a:r>
          </a:p>
        </p:txBody>
      </p:sp>
      <p:sp>
        <p:nvSpPr>
          <p:cNvPr id="1048787" name="Google Shape;351;p23"/>
          <p:cNvSpPr txBox="1"/>
          <p:nvPr/>
        </p:nvSpPr>
        <p:spPr>
          <a:xfrm>
            <a:off x="885825" y="3453705"/>
            <a:ext cx="2800350" cy="2286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42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Simple View</a:t>
            </a:r>
          </a:p>
        </p:txBody>
      </p:sp>
      <p:sp>
        <p:nvSpPr>
          <p:cNvPr id="1048788" name="Google Shape;352;p23"/>
          <p:cNvSpPr txBox="1"/>
          <p:nvPr/>
        </p:nvSpPr>
        <p:spPr>
          <a:xfrm>
            <a:off x="885825" y="3758505"/>
            <a:ext cx="2667000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Intuitive, jargon-free overview.</a:t>
            </a:r>
          </a:p>
        </p:txBody>
      </p:sp>
      <p:sp>
        <p:nvSpPr>
          <p:cNvPr id="1048789" name="Google Shape;353;p23"/>
          <p:cNvSpPr txBox="1"/>
          <p:nvPr/>
        </p:nvSpPr>
        <p:spPr>
          <a:xfrm>
            <a:off x="3648075" y="3363217"/>
            <a:ext cx="2800350" cy="2286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42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Detailed View</a:t>
            </a:r>
          </a:p>
        </p:txBody>
      </p:sp>
      <p:sp>
        <p:nvSpPr>
          <p:cNvPr id="1048790" name="Google Shape;354;p23"/>
          <p:cNvSpPr txBox="1"/>
          <p:nvPr/>
        </p:nvSpPr>
        <p:spPr>
          <a:xfrm>
            <a:off x="3648075" y="3668017"/>
            <a:ext cx="2228850" cy="1651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Comprehensive technical depth.</a:t>
            </a:r>
          </a:p>
        </p:txBody>
      </p:sp>
      <p:sp>
        <p:nvSpPr>
          <p:cNvPr id="1048791" name="Google Shape;355;p23"/>
          <p:cNvSpPr txBox="1"/>
          <p:nvPr/>
        </p:nvSpPr>
        <p:spPr>
          <a:xfrm>
            <a:off x="6410325" y="3453705"/>
            <a:ext cx="2800350" cy="2286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42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Examples</a:t>
            </a:r>
          </a:p>
        </p:txBody>
      </p:sp>
      <p:sp>
        <p:nvSpPr>
          <p:cNvPr id="1048792" name="Google Shape;356;p23"/>
          <p:cNvSpPr txBox="1"/>
          <p:nvPr/>
        </p:nvSpPr>
        <p:spPr>
          <a:xfrm>
            <a:off x="6410325" y="3758505"/>
            <a:ext cx="2667000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Practical analogies and cases.</a:t>
            </a:r>
          </a:p>
        </p:txBody>
      </p:sp>
      <p:sp>
        <p:nvSpPr>
          <p:cNvPr id="1048793" name="Google Shape;357;p23"/>
          <p:cNvSpPr txBox="1"/>
          <p:nvPr/>
        </p:nvSpPr>
        <p:spPr>
          <a:xfrm>
            <a:off x="9172575" y="3453705"/>
            <a:ext cx="2800350" cy="2286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425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Data</a:t>
            </a:r>
          </a:p>
        </p:txBody>
      </p:sp>
      <p:sp>
        <p:nvSpPr>
          <p:cNvPr id="1048794" name="Google Shape;358;p23"/>
          <p:cNvSpPr txBox="1"/>
          <p:nvPr/>
        </p:nvSpPr>
        <p:spPr>
          <a:xfrm>
            <a:off x="9172575" y="3758505"/>
            <a:ext cx="2667000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Organized bullet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66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Google Shape;363;p24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98" name="Google Shape;364;p24"/>
          <p:cNvSpPr/>
          <p:nvPr/>
        </p:nvSpPr>
        <p:spPr>
          <a:xfrm>
            <a:off x="685800" y="2297459"/>
            <a:ext cx="5276850" cy="25887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799" name="Google Shape;365;p24"/>
          <p:cNvSpPr/>
          <p:nvPr/>
        </p:nvSpPr>
        <p:spPr>
          <a:xfrm>
            <a:off x="6229350" y="2571750"/>
            <a:ext cx="5276850" cy="2040135"/>
          </a:xfrm>
          <a:prstGeom prst="roundRect">
            <a:avLst>
              <a:gd name="adj" fmla="val 5602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00" name="Google Shape;366;p24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01" name="Google Shape;367;p24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SELF-ASSESSMENT</a:t>
            </a:r>
          </a:p>
        </p:txBody>
      </p:sp>
      <p:sp>
        <p:nvSpPr>
          <p:cNvPr id="1048802" name="Google Shape;368;p24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Quiz System</a:t>
            </a:r>
          </a:p>
        </p:txBody>
      </p:sp>
      <p:sp>
        <p:nvSpPr>
          <p:cNvPr id="1048803" name="Google Shape;369;p24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804" name="Google Shape;370;p24"/>
          <p:cNvSpPr txBox="1"/>
          <p:nvPr/>
        </p:nvSpPr>
        <p:spPr>
          <a:xfrm>
            <a:off x="11020425" y="6162675"/>
            <a:ext cx="77152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12</a:t>
            </a:r>
          </a:p>
        </p:txBody>
      </p:sp>
      <p:sp>
        <p:nvSpPr>
          <p:cNvPr id="1048805" name="Google Shape;371;p24"/>
          <p:cNvSpPr txBox="1"/>
          <p:nvPr/>
        </p:nvSpPr>
        <p:spPr>
          <a:xfrm>
            <a:off x="962025" y="2573684"/>
            <a:ext cx="6200775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Quiz Workflow</a:t>
            </a:r>
          </a:p>
        </p:txBody>
      </p:sp>
      <p:sp>
        <p:nvSpPr>
          <p:cNvPr id="1048806" name="Google Shape;372;p24"/>
          <p:cNvSpPr txBox="1"/>
          <p:nvPr/>
        </p:nvSpPr>
        <p:spPr>
          <a:xfrm>
            <a:off x="962025" y="2964209"/>
            <a:ext cx="4819650" cy="181356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Student enters topic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AI generates 3 questions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4 options per question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Student selects answers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Submit and automatic score calculation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↓ Correct answers and explanations displayed</a:t>
            </a:r>
          </a:p>
        </p:txBody>
      </p:sp>
      <p:sp>
        <p:nvSpPr>
          <p:cNvPr id="1048807" name="Google Shape;373;p24"/>
          <p:cNvSpPr txBox="1"/>
          <p:nvPr/>
        </p:nvSpPr>
        <p:spPr>
          <a:xfrm>
            <a:off x="6505575" y="2847975"/>
            <a:ext cx="5686425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Scoring &amp; Feedback</a:t>
            </a:r>
          </a:p>
        </p:txBody>
      </p:sp>
      <p:sp>
        <p:nvSpPr>
          <p:cNvPr id="1048808" name="Google Shape;374;p24"/>
          <p:cNvSpPr txBox="1"/>
          <p:nvPr/>
        </p:nvSpPr>
        <p:spPr>
          <a:xfrm>
            <a:off x="6505575" y="3238500"/>
            <a:ext cx="4819650" cy="11734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Perfect Score: 3/3 (100%)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Moderate: 2/3 or 1/3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Immediate answer key reveal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Detailed rationales for every option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9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Google Shape;379;p25"/>
          <p:cNvSpPr/>
          <p:nvPr/>
        </p:nvSpPr>
        <p:spPr>
          <a:xfrm>
            <a:off x="685800" y="6000601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12" name="Google Shape;380;p25"/>
          <p:cNvSpPr/>
          <p:nvPr/>
        </p:nvSpPr>
        <p:spPr>
          <a:xfrm>
            <a:off x="685800" y="2701081"/>
            <a:ext cx="3690937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13" name="Google Shape;381;p25"/>
          <p:cNvSpPr/>
          <p:nvPr/>
        </p:nvSpPr>
        <p:spPr>
          <a:xfrm>
            <a:off x="5186362" y="2670720"/>
            <a:ext cx="6319837" cy="1842045"/>
          </a:xfrm>
          <a:prstGeom prst="roundRect">
            <a:avLst>
              <a:gd name="adj" fmla="val 6205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14" name="Google Shape;382;p25"/>
          <p:cNvSpPr/>
          <p:nvPr/>
        </p:nvSpPr>
        <p:spPr>
          <a:xfrm>
            <a:off x="685800" y="6000601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96" name="Google Shape;383;p25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23925" y="3015406"/>
            <a:ext cx="304800" cy="304800"/>
          </a:xfrm>
          <a:prstGeom prst="rect"/>
          <a:noFill/>
          <a:ln>
            <a:noFill/>
          </a:ln>
        </p:spPr>
      </p:pic>
      <p:pic>
        <p:nvPicPr>
          <p:cNvPr id="2097197" name="Google Shape;384;p25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4681537" y="3477369"/>
            <a:ext cx="200025" cy="228600"/>
          </a:xfrm>
          <a:prstGeom prst="rect"/>
          <a:noFill/>
          <a:ln>
            <a:noFill/>
          </a:ln>
        </p:spPr>
      </p:pic>
      <p:sp>
        <p:nvSpPr>
          <p:cNvPr id="1048815" name="Google Shape;385;p25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CONTENT REVISION</a:t>
            </a:r>
          </a:p>
        </p:txBody>
      </p:sp>
      <p:sp>
        <p:nvSpPr>
          <p:cNvPr id="1048816" name="Google Shape;386;p25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Summarizer</a:t>
            </a:r>
          </a:p>
        </p:txBody>
      </p:sp>
      <p:sp>
        <p:nvSpPr>
          <p:cNvPr id="1048817" name="Google Shape;387;p25"/>
          <p:cNvSpPr txBox="1"/>
          <p:nvPr/>
        </p:nvSpPr>
        <p:spPr>
          <a:xfrm>
            <a:off x="685800" y="6162526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818" name="Google Shape;388;p25"/>
          <p:cNvSpPr txBox="1"/>
          <p:nvPr/>
        </p:nvSpPr>
        <p:spPr>
          <a:xfrm>
            <a:off x="11020425" y="6162526"/>
            <a:ext cx="77152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13</a:t>
            </a:r>
          </a:p>
        </p:txBody>
      </p:sp>
      <p:sp>
        <p:nvSpPr>
          <p:cNvPr id="1048819" name="Google Shape;389;p25"/>
          <p:cNvSpPr txBox="1"/>
          <p:nvPr/>
        </p:nvSpPr>
        <p:spPr>
          <a:xfrm>
            <a:off x="923925" y="3472606"/>
            <a:ext cx="4219277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Input Text</a:t>
            </a:r>
          </a:p>
        </p:txBody>
      </p:sp>
      <p:sp>
        <p:nvSpPr>
          <p:cNvPr id="1048820" name="Google Shape;390;p25"/>
          <p:cNvSpPr txBox="1"/>
          <p:nvPr/>
        </p:nvSpPr>
        <p:spPr>
          <a:xfrm>
            <a:off x="923925" y="3786931"/>
            <a:ext cx="3309937" cy="3810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Paste study material, notes, or textbook excerpts.</a:t>
            </a:r>
          </a:p>
        </p:txBody>
      </p:sp>
      <p:sp>
        <p:nvSpPr>
          <p:cNvPr id="1048821" name="Google Shape;391;p25"/>
          <p:cNvSpPr txBox="1"/>
          <p:nvPr/>
        </p:nvSpPr>
        <p:spPr>
          <a:xfrm>
            <a:off x="5462587" y="2985045"/>
            <a:ext cx="6729412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Generated Revision Output</a:t>
            </a:r>
          </a:p>
        </p:txBody>
      </p:sp>
      <p:sp>
        <p:nvSpPr>
          <p:cNvPr id="1048822" name="Google Shape;392;p25"/>
          <p:cNvSpPr txBox="1"/>
          <p:nvPr/>
        </p:nvSpPr>
        <p:spPr>
          <a:xfrm>
            <a:off x="5462587" y="3375570"/>
            <a:ext cx="5862637" cy="85344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200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Concise summary capturing core thesis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Key points for rapid exam recall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200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Important definitions and concepts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72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5" name="Google Shape;397;p26"/>
          <p:cNvSpPr/>
          <p:nvPr/>
        </p:nvSpPr>
        <p:spPr>
          <a:xfrm>
            <a:off x="685800" y="5810250"/>
            <a:ext cx="108204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26" name="Google Shape;398;p26"/>
          <p:cNvSpPr/>
          <p:nvPr/>
        </p:nvSpPr>
        <p:spPr>
          <a:xfrm>
            <a:off x="685800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27" name="Google Shape;399;p26"/>
          <p:cNvSpPr/>
          <p:nvPr/>
        </p:nvSpPr>
        <p:spPr>
          <a:xfrm>
            <a:off x="3438525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28" name="Google Shape;400;p26"/>
          <p:cNvSpPr/>
          <p:nvPr/>
        </p:nvSpPr>
        <p:spPr>
          <a:xfrm>
            <a:off x="6191250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29" name="Google Shape;401;p26"/>
          <p:cNvSpPr/>
          <p:nvPr/>
        </p:nvSpPr>
        <p:spPr>
          <a:xfrm>
            <a:off x="8943975" y="2848867"/>
            <a:ext cx="2562225" cy="12954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198" name="Google Shape;402;p26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885825" y="3086992"/>
            <a:ext cx="200025" cy="228600"/>
          </a:xfrm>
          <a:prstGeom prst="rect"/>
          <a:noFill/>
          <a:ln>
            <a:noFill/>
          </a:ln>
        </p:spPr>
      </p:pic>
      <p:pic>
        <p:nvPicPr>
          <p:cNvPr id="2097199" name="Google Shape;403;p26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3638550" y="3086992"/>
            <a:ext cx="228600" cy="228600"/>
          </a:xfrm>
          <a:prstGeom prst="rect"/>
          <a:noFill/>
          <a:ln>
            <a:noFill/>
          </a:ln>
        </p:spPr>
      </p:pic>
      <p:pic>
        <p:nvPicPr>
          <p:cNvPr id="2097200" name="Google Shape;404;p26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6391275" y="3086992"/>
            <a:ext cx="285750" cy="228600"/>
          </a:xfrm>
          <a:prstGeom prst="rect"/>
          <a:noFill/>
          <a:ln>
            <a:noFill/>
          </a:ln>
        </p:spPr>
      </p:pic>
      <p:pic>
        <p:nvPicPr>
          <p:cNvPr id="2097201" name="Google Shape;405;p26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9144000" y="3086992"/>
            <a:ext cx="228600" cy="228600"/>
          </a:xfrm>
          <a:prstGeom prst="rect"/>
          <a:noFill/>
          <a:ln>
            <a:noFill/>
          </a:ln>
        </p:spPr>
      </p:pic>
      <p:sp>
        <p:nvSpPr>
          <p:cNvPr id="1048830" name="Google Shape;406;p26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CURRICULUM GUIDANCE</a:t>
            </a:r>
          </a:p>
        </p:txBody>
      </p:sp>
      <p:sp>
        <p:nvSpPr>
          <p:cNvPr id="1048831" name="Google Shape;407;p26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Learning Recommendations</a:t>
            </a:r>
          </a:p>
        </p:txBody>
      </p:sp>
      <p:sp>
        <p:nvSpPr>
          <p:cNvPr id="1048832" name="Google Shape;408;p26"/>
          <p:cNvSpPr txBox="1"/>
          <p:nvPr/>
        </p:nvSpPr>
        <p:spPr>
          <a:xfrm>
            <a:off x="-184546" y="5972175"/>
            <a:ext cx="12561093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200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Purpose: Provides a structured approach for students embarking on new subjects.</a:t>
            </a:r>
          </a:p>
        </p:txBody>
      </p:sp>
      <p:sp>
        <p:nvSpPr>
          <p:cNvPr id="1048833" name="Google Shape;409;p26"/>
          <p:cNvSpPr txBox="1"/>
          <p:nvPr/>
        </p:nvSpPr>
        <p:spPr>
          <a:xfrm>
            <a:off x="885825" y="3429892"/>
            <a:ext cx="2837854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Prerequisites</a:t>
            </a:r>
          </a:p>
        </p:txBody>
      </p:sp>
      <p:sp>
        <p:nvSpPr>
          <p:cNvPr id="1048834" name="Google Shape;410;p26"/>
          <p:cNvSpPr txBox="1"/>
          <p:nvPr/>
        </p:nvSpPr>
        <p:spPr>
          <a:xfrm>
            <a:off x="885825" y="3725167"/>
            <a:ext cx="2702718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Foundational concepts first.</a:t>
            </a:r>
          </a:p>
        </p:txBody>
      </p:sp>
      <p:sp>
        <p:nvSpPr>
          <p:cNvPr id="1048835" name="Google Shape;411;p26"/>
          <p:cNvSpPr txBox="1"/>
          <p:nvPr/>
        </p:nvSpPr>
        <p:spPr>
          <a:xfrm>
            <a:off x="3638550" y="3429892"/>
            <a:ext cx="2837854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Next Topics</a:t>
            </a:r>
          </a:p>
        </p:txBody>
      </p:sp>
      <p:sp>
        <p:nvSpPr>
          <p:cNvPr id="1048836" name="Google Shape;412;p26"/>
          <p:cNvSpPr txBox="1"/>
          <p:nvPr/>
        </p:nvSpPr>
        <p:spPr>
          <a:xfrm>
            <a:off x="3638550" y="3725167"/>
            <a:ext cx="2702718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Logical progression steps.</a:t>
            </a:r>
          </a:p>
        </p:txBody>
      </p:sp>
      <p:sp>
        <p:nvSpPr>
          <p:cNvPr id="1048837" name="Google Shape;413;p26"/>
          <p:cNvSpPr txBox="1"/>
          <p:nvPr/>
        </p:nvSpPr>
        <p:spPr>
          <a:xfrm>
            <a:off x="6391275" y="3429892"/>
            <a:ext cx="2837854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Practice</a:t>
            </a:r>
          </a:p>
        </p:txBody>
      </p:sp>
      <p:sp>
        <p:nvSpPr>
          <p:cNvPr id="1048838" name="Google Shape;414;p26"/>
          <p:cNvSpPr txBox="1"/>
          <p:nvPr/>
        </p:nvSpPr>
        <p:spPr>
          <a:xfrm>
            <a:off x="6391275" y="3725167"/>
            <a:ext cx="2702718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Hands-on problem sets.</a:t>
            </a:r>
          </a:p>
        </p:txBody>
      </p:sp>
      <p:sp>
        <p:nvSpPr>
          <p:cNvPr id="1048839" name="Google Shape;415;p26"/>
          <p:cNvSpPr txBox="1"/>
          <p:nvPr/>
        </p:nvSpPr>
        <p:spPr>
          <a:xfrm>
            <a:off x="9144000" y="3429892"/>
            <a:ext cx="2837854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Revision</a:t>
            </a:r>
          </a:p>
        </p:txBody>
      </p:sp>
      <p:sp>
        <p:nvSpPr>
          <p:cNvPr id="1048840" name="Google Shape;416;p26"/>
          <p:cNvSpPr txBox="1"/>
          <p:nvPr/>
        </p:nvSpPr>
        <p:spPr>
          <a:xfrm>
            <a:off x="9144000" y="3725167"/>
            <a:ext cx="2702718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Retention suggestions.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5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3" name="Google Shape;421;p27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44" name="Google Shape;422;p27"/>
          <p:cNvSpPr/>
          <p:nvPr/>
        </p:nvSpPr>
        <p:spPr>
          <a:xfrm>
            <a:off x="685800" y="2544067"/>
            <a:ext cx="5295900" cy="2095500"/>
          </a:xfrm>
          <a:prstGeom prst="roundRect">
            <a:avLst>
              <a:gd name="adj" fmla="val 545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45" name="Google Shape;423;p27"/>
          <p:cNvSpPr/>
          <p:nvPr/>
        </p:nvSpPr>
        <p:spPr>
          <a:xfrm>
            <a:off x="6210300" y="2672655"/>
            <a:ext cx="5295900" cy="1838325"/>
          </a:xfrm>
          <a:prstGeom prst="roundRect">
            <a:avLst>
              <a:gd name="adj" fmla="val 6217"/>
            </a:avLst>
          </a:prstGeom>
          <a:solidFill>
            <a:srgbClr val="EFF6FF"/>
          </a:solidFill>
          <a:ln w="9525" cap="flat" cmpd="sng">
            <a:solidFill>
              <a:srgbClr val="DBEAFE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46" name="Google Shape;424;p27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47" name="Google Shape;425;p27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SYSTEM TUNING</a:t>
            </a:r>
          </a:p>
        </p:txBody>
      </p:sp>
      <p:sp>
        <p:nvSpPr>
          <p:cNvPr id="1048848" name="Google Shape;426;p27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&amp; Prompt Engineering</a:t>
            </a:r>
          </a:p>
        </p:txBody>
      </p:sp>
      <p:sp>
        <p:nvSpPr>
          <p:cNvPr id="1048849" name="Google Shape;427;p27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850" name="Google Shape;428;p27"/>
          <p:cNvSpPr txBox="1"/>
          <p:nvPr/>
        </p:nvSpPr>
        <p:spPr>
          <a:xfrm>
            <a:off x="11029950" y="6162675"/>
            <a:ext cx="7620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15</a:t>
            </a:r>
          </a:p>
        </p:txBody>
      </p:sp>
      <p:sp>
        <p:nvSpPr>
          <p:cNvPr id="1048851" name="Google Shape;429;p27"/>
          <p:cNvSpPr txBox="1"/>
          <p:nvPr/>
        </p:nvSpPr>
        <p:spPr>
          <a:xfrm>
            <a:off x="923925" y="2782192"/>
            <a:ext cx="6325790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Feature-Specific Prompts</a:t>
            </a:r>
          </a:p>
        </p:txBody>
      </p:sp>
      <p:sp>
        <p:nvSpPr>
          <p:cNvPr id="1048852" name="Google Shape;430;p27"/>
          <p:cNvSpPr txBox="1"/>
          <p:nvPr/>
        </p:nvSpPr>
        <p:spPr>
          <a:xfrm>
            <a:off x="923925" y="3115567"/>
            <a:ext cx="4914900" cy="138588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</a:t>
            </a:r>
            <a:r>
              <a:rPr b="1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Q&amp;A:</a:t>
            </a: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Accurate, clear student response.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Explain:</a:t>
            </a: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Step-by-step breakdown.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Quiz:</a:t>
            </a: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Exactly 3 questions with 4 options.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Summarize:</a:t>
            </a: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Key points and definitions.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b="1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Recommendations:</a:t>
            </a:r>
            <a:r>
              <a:rPr b="0" cap="none" sz="1125" i="0" lang="en-US" strike="noStrike" u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Structured learning path.</a:t>
            </a:r>
          </a:p>
        </p:txBody>
      </p:sp>
      <p:sp>
        <p:nvSpPr>
          <p:cNvPr id="1048853" name="Google Shape;431;p27"/>
          <p:cNvSpPr txBox="1"/>
          <p:nvPr/>
        </p:nvSpPr>
        <p:spPr>
          <a:xfrm>
            <a:off x="6448425" y="2910780"/>
            <a:ext cx="5743575" cy="190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350" i="0" lang="en-US" strike="noStrike" u="non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Engineering Purpose</a:t>
            </a:r>
          </a:p>
        </p:txBody>
      </p:sp>
      <p:sp>
        <p:nvSpPr>
          <p:cNvPr id="1048854" name="Google Shape;432;p27"/>
          <p:cNvSpPr txBox="1"/>
          <p:nvPr/>
        </p:nvSpPr>
        <p:spPr>
          <a:xfrm>
            <a:off x="6448425" y="3244155"/>
            <a:ext cx="4914900" cy="108585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• Enforces student-friendly tone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Eliminates unstructured output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Enforces strict option schema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 • Ensures deterministic responses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78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Google Shape;437;p28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58" name="Google Shape;438;p28"/>
          <p:cNvSpPr/>
          <p:nvPr/>
        </p:nvSpPr>
        <p:spPr>
          <a:xfrm>
            <a:off x="7305823" y="2825055"/>
            <a:ext cx="4200376" cy="1533525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59" name="Google Shape;439;p28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02" name="Google Shape;440;p28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196387" y="3063180"/>
            <a:ext cx="419100" cy="419100"/>
          </a:xfrm>
          <a:prstGeom prst="rect"/>
          <a:noFill/>
          <a:ln>
            <a:noFill/>
          </a:ln>
        </p:spPr>
      </p:pic>
      <p:sp>
        <p:nvSpPr>
          <p:cNvPr id="1048860" name="Google Shape;441;p28"/>
          <p:cNvSpPr/>
          <p:nvPr/>
        </p:nvSpPr>
        <p:spPr>
          <a:xfrm>
            <a:off x="685800" y="2682180"/>
            <a:ext cx="6277123" cy="181927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r="5400000" dist="23000" rotWithShape="0">
              <a:srgbClr val="000000">
                <a:alpha val="34902"/>
              </a:srgbClr>
            </a:outerShdw>
          </a:effectLst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94304" name="Google Shape;442;p28"/>
          <p:cNvGraphicFramePr>
            <a:graphicFrameLocks/>
          </p:cNvGraphicFramePr>
          <p:nvPr/>
        </p:nvGraphicFramePr>
        <p:xfrm>
          <a:off x="685800" y="2682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{8BE0271C-FED0-43BA-A56D-67A6A46E7828}</a:tableStyleId>
              </a:tblPr>
              <a:tblGrid>
                <a:gridCol w="2622650"/>
                <a:gridCol w="2713875"/>
                <a:gridCol w="931075"/>
              </a:tblGrid>
              <a:tr h="3638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Area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Expected Result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</a:tr>
              <a:tr h="3638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Loading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cap="none" sz="1050" i="0" lang="en-US" strike="noStrike" u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Loads UI components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638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Q&amp;A &amp; Explain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cap="none" sz="1050" i="0" lang="en-US" strike="noStrike" u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Generates clear explanation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638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Quiz Generation &amp; Scoring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cap="none" sz="1050" i="0" lang="en-US" strike="noStrike" u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 questions with score check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363850"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E293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Input &amp; Error Handling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cap="none" sz="1050" i="0" lang="en-US" strike="noStrike" u="non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Safe validation messages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indent="0" lvl="0" marL="0" marR="0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cap="none" sz="1050" i="0" lang="en-US" strike="noStrike" u="none">
                          <a:solidFill>
                            <a:srgbClr val="16A34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PASS</a:t>
                      </a: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861" name="Google Shape;443;p28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QUALITY ASSURANCE</a:t>
            </a:r>
          </a:p>
        </p:txBody>
      </p:sp>
      <p:sp>
        <p:nvSpPr>
          <p:cNvPr id="1048862" name="Google Shape;444;p28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&amp; Results</a:t>
            </a:r>
          </a:p>
        </p:txBody>
      </p:sp>
      <p:sp>
        <p:nvSpPr>
          <p:cNvPr id="1048863" name="Google Shape;445;p28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864" name="Google Shape;446;p28"/>
          <p:cNvSpPr txBox="1"/>
          <p:nvPr/>
        </p:nvSpPr>
        <p:spPr>
          <a:xfrm>
            <a:off x="11020425" y="6162675"/>
            <a:ext cx="77152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16</a:t>
            </a:r>
          </a:p>
        </p:txBody>
      </p:sp>
      <p:sp>
        <p:nvSpPr>
          <p:cNvPr id="1048865" name="Google Shape;447;p28"/>
          <p:cNvSpPr txBox="1"/>
          <p:nvPr/>
        </p:nvSpPr>
        <p:spPr>
          <a:xfrm>
            <a:off x="6962054" y="3596580"/>
            <a:ext cx="4887915" cy="2667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65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Pass Rate</a:t>
            </a:r>
          </a:p>
        </p:txBody>
      </p:sp>
      <p:sp>
        <p:nvSpPr>
          <p:cNvPr id="1048866" name="Google Shape;448;p28"/>
          <p:cNvSpPr txBox="1"/>
          <p:nvPr/>
        </p:nvSpPr>
        <p:spPr>
          <a:xfrm>
            <a:off x="7078433" y="3939480"/>
            <a:ext cx="4655157" cy="18097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All test cases verified across responsive viewports.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Google Shape;453;p29"/>
          <p:cNvSpPr/>
          <p:nvPr/>
        </p:nvSpPr>
        <p:spPr>
          <a:xfrm>
            <a:off x="685800" y="6000750"/>
            <a:ext cx="10820400" cy="3238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70" name="Google Shape;454;p29"/>
          <p:cNvSpPr/>
          <p:nvPr/>
        </p:nvSpPr>
        <p:spPr>
          <a:xfrm>
            <a:off x="685800" y="2477392"/>
            <a:ext cx="5238750" cy="2228850"/>
          </a:xfrm>
          <a:prstGeom prst="roundRect">
            <a:avLst>
              <a:gd name="adj" fmla="val 5128"/>
            </a:avLst>
          </a:prstGeom>
          <a:solidFill>
            <a:srgbClr val="F0FDF4"/>
          </a:solidFill>
          <a:ln w="9525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71" name="Google Shape;455;p29"/>
          <p:cNvSpPr/>
          <p:nvPr/>
        </p:nvSpPr>
        <p:spPr>
          <a:xfrm>
            <a:off x="6267450" y="2477392"/>
            <a:ext cx="5238750" cy="222885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72" name="Google Shape;456;p29"/>
          <p:cNvSpPr/>
          <p:nvPr/>
        </p:nvSpPr>
        <p:spPr>
          <a:xfrm>
            <a:off x="685800" y="6000750"/>
            <a:ext cx="10820400" cy="9525"/>
          </a:xfrm>
          <a:prstGeom prst="rect"/>
          <a:solidFill>
            <a:srgbClr val="E2E8F0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73" name="Google Shape;457;p29"/>
          <p:cNvSpPr txBox="1"/>
          <p:nvPr/>
        </p:nvSpPr>
        <p:spPr>
          <a:xfrm>
            <a:off x="685800" y="533400"/>
            <a:ext cx="115062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050" i="0" lang="en-US" strike="noStrike" u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ASSESSMENT &amp; ROADMAP</a:t>
            </a:r>
          </a:p>
        </p:txBody>
      </p:sp>
      <p:sp>
        <p:nvSpPr>
          <p:cNvPr id="1048874" name="Google Shape;458;p29"/>
          <p:cNvSpPr txBox="1"/>
          <p:nvPr/>
        </p:nvSpPr>
        <p:spPr>
          <a:xfrm>
            <a:off x="685800" y="771525"/>
            <a:ext cx="11506200" cy="4876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2700" i="0" lang="en-US" strike="noStrike" u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Advantages &amp; Future Scope</a:t>
            </a:r>
          </a:p>
        </p:txBody>
      </p:sp>
      <p:sp>
        <p:nvSpPr>
          <p:cNvPr id="1048875" name="Google Shape;459;p29"/>
          <p:cNvSpPr txBox="1"/>
          <p:nvPr/>
        </p:nvSpPr>
        <p:spPr>
          <a:xfrm>
            <a:off x="685800" y="6162675"/>
            <a:ext cx="2202656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EduGenie Architecture Deck</a:t>
            </a:r>
          </a:p>
        </p:txBody>
      </p:sp>
      <p:sp>
        <p:nvSpPr>
          <p:cNvPr id="1048876" name="Google Shape;460;p29"/>
          <p:cNvSpPr txBox="1"/>
          <p:nvPr/>
        </p:nvSpPr>
        <p:spPr>
          <a:xfrm>
            <a:off x="11029950" y="6162675"/>
            <a:ext cx="762000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17</a:t>
            </a:r>
          </a:p>
        </p:txBody>
      </p:sp>
      <p:sp>
        <p:nvSpPr>
          <p:cNvPr id="1048877" name="Google Shape;461;p29"/>
          <p:cNvSpPr txBox="1"/>
          <p:nvPr/>
        </p:nvSpPr>
        <p:spPr>
          <a:xfrm>
            <a:off x="962025" y="2753617"/>
            <a:ext cx="6150768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Advantages</a:t>
            </a:r>
          </a:p>
        </p:txBody>
      </p:sp>
      <p:sp>
        <p:nvSpPr>
          <p:cNvPr id="1048878" name="Google Shape;462;p29"/>
          <p:cNvSpPr txBox="1"/>
          <p:nvPr/>
        </p:nvSpPr>
        <p:spPr>
          <a:xfrm>
            <a:off x="962025" y="3144142"/>
            <a:ext cx="4781550" cy="138588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• Centralized AI learning tools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Fast doubt resolution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Interactive self-assessment quizzes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Rapid study material summarization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14532D"/>
                </a:solidFill>
                <a:latin typeface="Inter"/>
                <a:ea typeface="Inter"/>
                <a:cs typeface="Inter"/>
                <a:sym typeface="Inter"/>
              </a:rPr>
              <a:t> • Structured learning path recommendations</a:t>
            </a:r>
          </a:p>
        </p:txBody>
      </p:sp>
      <p:sp>
        <p:nvSpPr>
          <p:cNvPr id="1048879" name="Google Shape;463;p29"/>
          <p:cNvSpPr txBox="1"/>
          <p:nvPr/>
        </p:nvSpPr>
        <p:spPr>
          <a:xfrm>
            <a:off x="6543675" y="2753617"/>
            <a:ext cx="5648325" cy="2381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1500" i="0" lang="en-US" strike="noStrike" u="non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Future Scope</a:t>
            </a:r>
          </a:p>
        </p:txBody>
      </p:sp>
      <p:sp>
        <p:nvSpPr>
          <p:cNvPr id="1048880" name="Google Shape;464;p29"/>
          <p:cNvSpPr txBox="1"/>
          <p:nvPr/>
        </p:nvSpPr>
        <p:spPr>
          <a:xfrm>
            <a:off x="6543675" y="3144142"/>
            <a:ext cx="4781550" cy="1385887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l" indent="0" lvl="0" marL="0" marR="0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125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Student accounts &amp; progress tracking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PDF study &amp; RAG document querying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Voice-based learning interaction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Multilingual regional support</a:t>
            </a:r>
            <a:br>
              <a:rPr b="0" cap="none" sz="1800" i="0" lang="en-US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cap="none" sz="1125" i="0" lang="en-US" strike="noStrike" u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• Adaptive quizzes &amp; teacher dashboard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84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3" name="Google Shape;469;p30"/>
          <p:cNvSpPr/>
          <p:nvPr/>
        </p:nvSpPr>
        <p:spPr>
          <a:xfrm>
            <a:off x="762000" y="5886450"/>
            <a:ext cx="10668000" cy="36195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84" name="Google Shape;470;p30"/>
          <p:cNvSpPr/>
          <p:nvPr/>
        </p:nvSpPr>
        <p:spPr>
          <a:xfrm>
            <a:off x="5829300" y="370522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885" name="Google Shape;471;p30"/>
          <p:cNvSpPr/>
          <p:nvPr/>
        </p:nvSpPr>
        <p:spPr>
          <a:xfrm>
            <a:off x="762000" y="5886450"/>
            <a:ext cx="10668000" cy="9525"/>
          </a:xfrm>
          <a:prstGeom prst="rect"/>
          <a:solidFill>
            <a:srgbClr val="1E293B"/>
          </a:solidFill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endParaRPr b="0" cap="none" sz="1800" i="0" strike="noStrike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7203" name="Google Shape;472;p30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5867400" y="609600"/>
            <a:ext cx="457200" cy="457200"/>
          </a:xfrm>
          <a:prstGeom prst="rect"/>
          <a:noFill/>
          <a:ln>
            <a:noFill/>
          </a:ln>
        </p:spPr>
      </p:pic>
      <p:pic>
        <p:nvPicPr>
          <p:cNvPr id="2097204" name="Google Shape;473;p30" descr="image.png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2">
            <a:alphaModFix/>
          </a:blip>
          <a:srcRect/>
          <a:stretch>
            <a:fillRect/>
          </a:stretch>
        </p:blipFill>
        <p:spPr>
          <a:xfrm>
            <a:off x="5953125" y="723900"/>
            <a:ext cx="285750" cy="228600"/>
          </a:xfrm>
          <a:prstGeom prst="rect"/>
          <a:noFill/>
          <a:ln>
            <a:noFill/>
          </a:ln>
        </p:spPr>
      </p:pic>
      <p:sp>
        <p:nvSpPr>
          <p:cNvPr id="1048886" name="Google Shape;474;p30"/>
          <p:cNvSpPr txBox="1"/>
          <p:nvPr/>
        </p:nvSpPr>
        <p:spPr>
          <a:xfrm>
            <a:off x="-285750" y="1924050"/>
            <a:ext cx="12763500" cy="469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150" i="0" lang="en-US" strike="noStrike" u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Practical Generative AI in Education</a:t>
            </a:r>
          </a:p>
        </p:txBody>
      </p:sp>
      <p:sp>
        <p:nvSpPr>
          <p:cNvPr id="1048887" name="Google Shape;475;p30"/>
          <p:cNvSpPr txBox="1"/>
          <p:nvPr/>
        </p:nvSpPr>
        <p:spPr>
          <a:xfrm>
            <a:off x="1571625" y="2581275"/>
            <a:ext cx="9048750" cy="6858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500" i="0" lang="en-US" strike="noStrike" u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EduGenie unifies Question Answering, Concept Explanation, Quiz Generation, Summarization, and Learning Recommendations into a responsive, student-centered assistant.</a:t>
            </a:r>
          </a:p>
        </p:txBody>
      </p:sp>
      <p:sp>
        <p:nvSpPr>
          <p:cNvPr id="1048888" name="Google Shape;476;p30"/>
          <p:cNvSpPr txBox="1"/>
          <p:nvPr/>
        </p:nvSpPr>
        <p:spPr>
          <a:xfrm>
            <a:off x="-285750" y="4086225"/>
            <a:ext cx="12763500" cy="5842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cap="none" sz="3900" i="0" lang="en-US" strike="noStrike" u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</a:t>
            </a:r>
          </a:p>
        </p:txBody>
      </p:sp>
      <p:sp>
        <p:nvSpPr>
          <p:cNvPr id="1048889" name="Google Shape;477;p30"/>
          <p:cNvSpPr txBox="1"/>
          <p:nvPr/>
        </p:nvSpPr>
        <p:spPr>
          <a:xfrm>
            <a:off x="-285750" y="4829175"/>
            <a:ext cx="12763500" cy="2000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3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</a:p>
        </p:txBody>
      </p:sp>
      <p:sp>
        <p:nvSpPr>
          <p:cNvPr id="1048890" name="Google Shape;478;p30"/>
          <p:cNvSpPr txBox="1"/>
          <p:nvPr/>
        </p:nvSpPr>
        <p:spPr>
          <a:xfrm>
            <a:off x="576262" y="6086475"/>
            <a:ext cx="185737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Presented by Lohith NR</a:t>
            </a:r>
          </a:p>
        </p:txBody>
      </p:sp>
      <p:sp>
        <p:nvSpPr>
          <p:cNvPr id="1048891" name="Google Shape;479;p30"/>
          <p:cNvSpPr txBox="1"/>
          <p:nvPr/>
        </p:nvSpPr>
        <p:spPr>
          <a:xfrm>
            <a:off x="8301037" y="6086475"/>
            <a:ext cx="3476625" cy="16192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marR="0" rtl="0">
              <a:spcBef>
                <a:spcPts val="0"/>
              </a:spcBef>
              <a:spcAft>
                <a:spcPts val="0"/>
              </a:spcAft>
              <a:buNone/>
            </a:pPr>
            <a:r>
              <a:rPr b="0" cap="none" sz="1050" i="0" lang="en-US" strike="noStrike" u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B.Sc. Computer Science – AI &amp;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admin</dc:creator>
  <cp:lastModifiedBy>admin</cp:lastModifiedBy>
  <dcterms:created xsi:type="dcterms:W3CDTF">2026-09-30T07:36:34Z</dcterms:created>
  <dcterms:modified xsi:type="dcterms:W3CDTF">2026-09-30T07:36:34Z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fd9215658c0845e18591f5d2bb356763</vt:lpwstr>
  </property>
</Properties>
</file>